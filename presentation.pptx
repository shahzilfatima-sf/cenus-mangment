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46" d="100"/>
          <a:sy n="146" d="100"/>
        </p:scale>
        <p:origin x="594" y="1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5515932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Good [morning/afternoon]. Today we're presenting the Census Management </a:t>
            </a:r>
            <a:r>
              <a:rPr lang="en-US"/>
              <a:t>System   </a:t>
            </a:r>
            <a:r>
              <a:rPr lang="en-US" dirty="0"/>
              <a:t>a desktop application that fully digitizes Pakistan's paper-based population and housing census process.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Here's our agenda for today. We'll walk through the problem, our solution, how we built it, and then open it up for questions.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paper-based census system creates three core problems. Officers waste hours searching records, duplicate entries make the data untrustworthy, and there is no way to generate reports quickly for government decisions.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These six objectives map directly to the project brief. Every design and code decision flows from these goals. Objective 2 and 6 were personally the most technically interesting to implement.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 stayed entirely within the Microsoft ecosystem. This means no NuGet packages are required beyond what ships with .NET Framework 4.8. SHA-256 is built into System.Security.</a:t>
            </a:r>
            <a:r>
              <a:rPr lang="en-US"/>
              <a:t>Cryptography   </a:t>
            </a:r>
            <a:r>
              <a:rPr lang="en-US" dirty="0"/>
              <a:t>we didn't need bcrypt or any external library.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layered design means the three parts of the system are fully independent. If we needed to switch from SQL Server to SQLite, only DatabaseHelper.cs would </a:t>
            </a:r>
            <a:r>
              <a:rPr lang="en-US"/>
              <a:t>change   </a:t>
            </a:r>
            <a:r>
              <a:rPr lang="en-US" dirty="0"/>
              <a:t>nothing in the UI. This is real software engineering.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database design is clean and normalized. Users are completely separate from census </a:t>
            </a:r>
            <a:r>
              <a:rPr lang="en-US"/>
              <a:t>data   </a:t>
            </a:r>
            <a:r>
              <a:rPr lang="en-US" dirty="0"/>
              <a:t>a person's login account has no relationship to their census record. The chain is Areas → Households → Citizens, enforced by SQL foreign keys.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authentication module was the first thing we built because everything else depends on it. SHA-256 produces a 64-character hex string. On login we hash the entered password and compare </a:t>
            </a:r>
            <a:r>
              <a:rPr lang="en-US"/>
              <a:t>strings   </a:t>
            </a:r>
            <a:r>
              <a:rPr lang="en-US" dirty="0"/>
              <a:t>the plain text is never needed again.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dashboard is the first thing officers see after logging in. The four stat cards query the database on load and every time a sub-window closes. The four large buttons each open a dedicated management window.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CRUD is the backbone of any data system. We implemented it identically across all three management modules. The pattern is always: form at top, data grid below, click a row to populate the form, then save or delete.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citizen module is the most complex in the system. It has the most fields, the most validation rules, and it must maintain a valid link to a household. The inline edit panel in CitizenWindow means officers never have to open a separate form to correct a record.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full linear journey an officer takes. Each window has a Back to Home button so they never get stuck. After returning from any sub-window, the dashboard stats refresh automatically.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Security was not an afterthought. SHA-256 is industry standard. No plain-text passwords anywhere in the codebase. On the data side, CNIC validation runs both in C# and at the database UNIQUE constraint </a:t>
            </a:r>
            <a:r>
              <a:rPr lang="en-US"/>
              <a:t>level   </a:t>
            </a:r>
            <a:r>
              <a:rPr lang="en-US" dirty="0"/>
              <a:t>double protection.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Every challenge here was a real bug we encountered during development. The FK cascade issue taught us the </a:t>
            </a:r>
            <a:r>
              <a:rPr lang="en-US"/>
              <a:t>most   </a:t>
            </a:r>
            <a:r>
              <a:rPr lang="en-US" dirty="0"/>
              <a:t>we had to think carefully about object lifetimes and relationship order, which made the overall delete logic much more robust.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 reviewed the evaluation rubric before finalizing every feature. This checklist maps directly to the marking scheme. Every item has concrete evidence in the running application.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Thank you for your time. We are happy to open the application now for a live demonstration, or to answer any questions about the code, database design, or security implementation.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10.png"/><Relationship Id="rId7" Type="http://schemas.openxmlformats.org/officeDocument/2006/relationships/image" Target="../media/image1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10" Type="http://schemas.openxmlformats.org/officeDocument/2006/relationships/image" Target="../media/image16.png"/><Relationship Id="rId4" Type="http://schemas.openxmlformats.org/officeDocument/2006/relationships/image" Target="../media/image3.png"/><Relationship Id="rId9" Type="http://schemas.openxmlformats.org/officeDocument/2006/relationships/image" Target="../media/image15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1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2D0660"/>
          </a:solidFill>
          <a:ln w="12700">
            <a:solidFill>
              <a:srgbClr val="2D066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669280" y="-1645920"/>
            <a:ext cx="5943600" cy="5943600"/>
          </a:xfrm>
          <a:prstGeom prst="ellipse">
            <a:avLst/>
          </a:prstGeom>
          <a:solidFill>
            <a:srgbClr val="FF7043">
              <a:alpha val="16000"/>
            </a:srgbClr>
          </a:solidFill>
          <a:ln w="12700">
            <a:solidFill>
              <a:srgbClr val="FF7043">
                <a:alpha val="16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-1645920" y="2926080"/>
            <a:ext cx="5029200" cy="5029200"/>
          </a:xfrm>
          <a:prstGeom prst="ellipse">
            <a:avLst/>
          </a:prstGeom>
          <a:solidFill>
            <a:srgbClr val="6B21C8">
              <a:alpha val="20000"/>
            </a:srgbClr>
          </a:solidFill>
          <a:ln w="12700">
            <a:solidFill>
              <a:srgbClr val="6B21C8">
                <a:alpha val="20000"/>
              </a:srgbClr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457200" y="1920240"/>
            <a:ext cx="8229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600" b="1" kern="0" spc="4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CENSUS MANAGEMENT</a:t>
            </a:r>
            <a:endParaRPr lang="en-US" sz="4600" dirty="0"/>
          </a:p>
        </p:txBody>
      </p:sp>
      <p:sp>
        <p:nvSpPr>
          <p:cNvPr id="9" name="Text 6"/>
          <p:cNvSpPr/>
          <p:nvPr/>
        </p:nvSpPr>
        <p:spPr>
          <a:xfrm>
            <a:off x="457200" y="2633472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600" b="1" kern="0" spc="600" dirty="0">
                <a:solidFill>
                  <a:srgbClr val="FF70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SYSTEM</a:t>
            </a:r>
            <a:endParaRPr lang="en-US" sz="4600" dirty="0"/>
          </a:p>
        </p:txBody>
      </p:sp>
      <p:sp>
        <p:nvSpPr>
          <p:cNvPr id="11" name="Text 8"/>
          <p:cNvSpPr/>
          <p:nvPr/>
        </p:nvSpPr>
        <p:spPr>
          <a:xfrm>
            <a:off x="457200" y="3511296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FFA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Population &amp; Housing Survey  ·  Digitized Desktop Platform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457200" y="3895344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1005840" y="4407408"/>
            <a:ext cx="1600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2788920" y="4407408"/>
            <a:ext cx="1600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4572000" y="4407408"/>
            <a:ext cx="1600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6355080" y="4407408"/>
            <a:ext cx="1600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4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2D0660"/>
          </a:solidFill>
          <a:ln w="12700">
            <a:solidFill>
              <a:srgbClr val="2D066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046720" y="91440"/>
            <a:ext cx="274320" cy="274320"/>
          </a:xfrm>
          <a:prstGeom prst="ellipse">
            <a:avLst/>
          </a:prstGeom>
          <a:solidFill>
            <a:srgbClr val="FF7043">
              <a:alpha val="60000"/>
            </a:srgbClr>
          </a:solidFill>
          <a:ln w="12700">
            <a:solidFill>
              <a:srgbClr val="FF7043">
                <a:alpha val="6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412480" y="182880"/>
            <a:ext cx="182880" cy="182880"/>
          </a:xfrm>
          <a:prstGeom prst="ellipse">
            <a:avLst/>
          </a:prstGeom>
          <a:solidFill>
            <a:srgbClr val="FFAA80">
              <a:alpha val="60000"/>
            </a:srgbClr>
          </a:solidFill>
          <a:ln w="12700">
            <a:solidFill>
              <a:srgbClr val="FFAA80">
                <a:alpha val="6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84048" y="91440"/>
            <a:ext cx="8412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50" dirty="0">
                <a:solidFill>
                  <a:srgbClr val="FFA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OVERVIEW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384048" y="621792"/>
            <a:ext cx="84124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05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we'll cover today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384048" y="1234440"/>
            <a:ext cx="1005840" cy="50292"/>
          </a:xfrm>
          <a:prstGeom prst="rect">
            <a:avLst/>
          </a:prstGeom>
          <a:solidFill>
            <a:srgbClr val="FF7043"/>
          </a:solidFill>
          <a:ln w="12700">
            <a:solidFill>
              <a:srgbClr val="FF7043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7472" y="1389888"/>
            <a:ext cx="4169664" cy="749808"/>
          </a:xfrm>
          <a:prstGeom prst="roundRect">
            <a:avLst>
              <a:gd name="adj" fmla="val 14634"/>
            </a:avLst>
          </a:prstGeom>
          <a:solidFill>
            <a:srgbClr val="FFFFFF"/>
          </a:solidFill>
          <a:ln w="12700">
            <a:solidFill>
              <a:srgbClr val="E0D0F8"/>
            </a:solidFill>
            <a:prstDash val="solid"/>
          </a:ln>
          <a:effectLst>
            <a:outerShdw blurRad="177800" dist="508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57200" y="1527048"/>
            <a:ext cx="475488" cy="475488"/>
          </a:xfrm>
          <a:prstGeom prst="ellipse">
            <a:avLst/>
          </a:prstGeom>
          <a:solidFill>
            <a:srgbClr val="6B21C8"/>
          </a:solidFill>
          <a:ln w="12700">
            <a:solidFill>
              <a:srgbClr val="6B21C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152704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024128" y="1481328"/>
            <a:ext cx="336499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D066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Problem Statement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024128" y="1792224"/>
            <a:ext cx="336499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A3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the census process needs digitizing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754880" y="1389888"/>
            <a:ext cx="4169664" cy="749808"/>
          </a:xfrm>
          <a:prstGeom prst="roundRect">
            <a:avLst>
              <a:gd name="adj" fmla="val 14634"/>
            </a:avLst>
          </a:prstGeom>
          <a:solidFill>
            <a:srgbClr val="FFFFFF"/>
          </a:solidFill>
          <a:ln w="12700">
            <a:solidFill>
              <a:srgbClr val="E0D0F8"/>
            </a:solidFill>
            <a:prstDash val="solid"/>
          </a:ln>
          <a:effectLst>
            <a:outerShdw blurRad="177800" dist="508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864608" y="1527048"/>
            <a:ext cx="475488" cy="475488"/>
          </a:xfrm>
          <a:prstGeom prst="ellipse">
            <a:avLst/>
          </a:prstGeom>
          <a:solidFill>
            <a:srgbClr val="6B21C8"/>
          </a:solidFill>
          <a:ln w="12700">
            <a:solidFill>
              <a:srgbClr val="6B21C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864608" y="152704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431536" y="1481328"/>
            <a:ext cx="336499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D066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Objectives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5431536" y="1792224"/>
            <a:ext cx="336499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A3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set out to achieve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47472" y="2267712"/>
            <a:ext cx="4169664" cy="749808"/>
          </a:xfrm>
          <a:prstGeom prst="roundRect">
            <a:avLst>
              <a:gd name="adj" fmla="val 14634"/>
            </a:avLst>
          </a:prstGeom>
          <a:solidFill>
            <a:srgbClr val="FFFFFF"/>
          </a:solidFill>
          <a:ln w="12700">
            <a:solidFill>
              <a:srgbClr val="E0D0F8"/>
            </a:solidFill>
            <a:prstDash val="solid"/>
          </a:ln>
          <a:effectLst>
            <a:outerShdw blurRad="177800" dist="508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57200" y="2404872"/>
            <a:ext cx="475488" cy="475488"/>
          </a:xfrm>
          <a:prstGeom prst="ellipse">
            <a:avLst/>
          </a:prstGeom>
          <a:solidFill>
            <a:srgbClr val="6B21C8"/>
          </a:solidFill>
          <a:ln w="12700">
            <a:solidFill>
              <a:srgbClr val="6B21C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57200" y="240487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1024128" y="2359152"/>
            <a:ext cx="336499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D066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Technology Stack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24128" y="2670048"/>
            <a:ext cx="336499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A3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 and frameworks used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754880" y="2267712"/>
            <a:ext cx="4169664" cy="749808"/>
          </a:xfrm>
          <a:prstGeom prst="roundRect">
            <a:avLst>
              <a:gd name="adj" fmla="val 14634"/>
            </a:avLst>
          </a:prstGeom>
          <a:solidFill>
            <a:srgbClr val="FFFFFF"/>
          </a:solidFill>
          <a:ln w="12700">
            <a:solidFill>
              <a:srgbClr val="E0D0F8"/>
            </a:solidFill>
            <a:prstDash val="solid"/>
          </a:ln>
          <a:effectLst>
            <a:outerShdw blurRad="177800" dist="508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864608" y="2404872"/>
            <a:ext cx="475488" cy="475488"/>
          </a:xfrm>
          <a:prstGeom prst="ellipse">
            <a:avLst/>
          </a:prstGeom>
          <a:solidFill>
            <a:srgbClr val="6B21C8"/>
          </a:solidFill>
          <a:ln w="12700">
            <a:solidFill>
              <a:srgbClr val="6B21C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864608" y="240487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5431536" y="2359152"/>
            <a:ext cx="336499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D066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System Architecture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5431536" y="2670048"/>
            <a:ext cx="336499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A3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Three-layer design pattern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347472" y="3145536"/>
            <a:ext cx="4169664" cy="749808"/>
          </a:xfrm>
          <a:prstGeom prst="roundRect">
            <a:avLst>
              <a:gd name="adj" fmla="val 14634"/>
            </a:avLst>
          </a:prstGeom>
          <a:solidFill>
            <a:srgbClr val="FFFFFF"/>
          </a:solidFill>
          <a:ln w="12700">
            <a:solidFill>
              <a:srgbClr val="E0D0F8"/>
            </a:solidFill>
            <a:prstDash val="solid"/>
          </a:ln>
          <a:effectLst>
            <a:outerShdw blurRad="177800" dist="508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457200" y="3282696"/>
            <a:ext cx="475488" cy="475488"/>
          </a:xfrm>
          <a:prstGeom prst="ellipse">
            <a:avLst/>
          </a:prstGeom>
          <a:solidFill>
            <a:srgbClr val="6B21C8"/>
          </a:solidFill>
          <a:ln w="12700">
            <a:solidFill>
              <a:srgbClr val="6B21C8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57200" y="3282696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1024128" y="3236976"/>
            <a:ext cx="336499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D066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Database Design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1024128" y="3547872"/>
            <a:ext cx="336499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A3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Tables, fields and relationships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4754880" y="3145536"/>
            <a:ext cx="4169664" cy="749808"/>
          </a:xfrm>
          <a:prstGeom prst="roundRect">
            <a:avLst>
              <a:gd name="adj" fmla="val 14634"/>
            </a:avLst>
          </a:prstGeom>
          <a:solidFill>
            <a:srgbClr val="FFFFFF"/>
          </a:solidFill>
          <a:ln w="12700">
            <a:solidFill>
              <a:srgbClr val="E0D0F8"/>
            </a:solidFill>
            <a:prstDash val="solid"/>
          </a:ln>
          <a:effectLst>
            <a:outerShdw blurRad="177800" dist="508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4864608" y="3282696"/>
            <a:ext cx="475488" cy="475488"/>
          </a:xfrm>
          <a:prstGeom prst="ellipse">
            <a:avLst/>
          </a:prstGeom>
          <a:solidFill>
            <a:srgbClr val="6B21C8"/>
          </a:solidFill>
          <a:ln w="12700">
            <a:solidFill>
              <a:srgbClr val="6B21C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864608" y="3282696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06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5431536" y="3236976"/>
            <a:ext cx="336499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D066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Core Features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5431536" y="3547872"/>
            <a:ext cx="336499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A3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modules and their functions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347472" y="4023360"/>
            <a:ext cx="4169664" cy="749808"/>
          </a:xfrm>
          <a:prstGeom prst="roundRect">
            <a:avLst>
              <a:gd name="adj" fmla="val 14634"/>
            </a:avLst>
          </a:prstGeom>
          <a:solidFill>
            <a:srgbClr val="FFFFFF"/>
          </a:solidFill>
          <a:ln w="12700">
            <a:solidFill>
              <a:srgbClr val="E0D0F8"/>
            </a:solidFill>
            <a:prstDash val="solid"/>
          </a:ln>
          <a:effectLst>
            <a:outerShdw blurRad="177800" dist="508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9" name="Shape 37"/>
          <p:cNvSpPr/>
          <p:nvPr/>
        </p:nvSpPr>
        <p:spPr>
          <a:xfrm>
            <a:off x="457200" y="4160520"/>
            <a:ext cx="475488" cy="475488"/>
          </a:xfrm>
          <a:prstGeom prst="ellipse">
            <a:avLst/>
          </a:prstGeom>
          <a:solidFill>
            <a:srgbClr val="6B21C8"/>
          </a:solidFill>
          <a:ln w="12700">
            <a:solidFill>
              <a:srgbClr val="6B21C8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57200" y="416052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07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1024128" y="4114800"/>
            <a:ext cx="336499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D066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Security &amp; Validation</a:t>
            </a:r>
            <a:endParaRPr lang="en-US" sz="1300" dirty="0"/>
          </a:p>
        </p:txBody>
      </p:sp>
      <p:sp>
        <p:nvSpPr>
          <p:cNvPr id="42" name="Text 40"/>
          <p:cNvSpPr/>
          <p:nvPr/>
        </p:nvSpPr>
        <p:spPr>
          <a:xfrm>
            <a:off x="1024128" y="4425696"/>
            <a:ext cx="336499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A3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Password hashing and data rules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4754880" y="4023360"/>
            <a:ext cx="4169664" cy="749808"/>
          </a:xfrm>
          <a:prstGeom prst="roundRect">
            <a:avLst>
              <a:gd name="adj" fmla="val 14634"/>
            </a:avLst>
          </a:prstGeom>
          <a:solidFill>
            <a:srgbClr val="FFFFFF"/>
          </a:solidFill>
          <a:ln w="12700">
            <a:solidFill>
              <a:srgbClr val="E0D0F8"/>
            </a:solidFill>
            <a:prstDash val="solid"/>
          </a:ln>
          <a:effectLst>
            <a:outerShdw blurRad="177800" dist="508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4" name="Shape 42"/>
          <p:cNvSpPr/>
          <p:nvPr/>
        </p:nvSpPr>
        <p:spPr>
          <a:xfrm>
            <a:off x="4864608" y="4160520"/>
            <a:ext cx="475488" cy="475488"/>
          </a:xfrm>
          <a:prstGeom prst="ellipse">
            <a:avLst/>
          </a:prstGeom>
          <a:solidFill>
            <a:srgbClr val="6B21C8"/>
          </a:solidFill>
          <a:ln w="12700">
            <a:solidFill>
              <a:srgbClr val="6B21C8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864608" y="416052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08</a:t>
            </a:r>
            <a:endParaRPr lang="en-US" sz="1100" dirty="0"/>
          </a:p>
        </p:txBody>
      </p:sp>
      <p:sp>
        <p:nvSpPr>
          <p:cNvPr id="46" name="Text 44"/>
          <p:cNvSpPr/>
          <p:nvPr/>
        </p:nvSpPr>
        <p:spPr>
          <a:xfrm>
            <a:off x="5431536" y="4114800"/>
            <a:ext cx="336499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D066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Challenges &amp; Solutions</a:t>
            </a:r>
            <a:endParaRPr lang="en-US" sz="1300" dirty="0"/>
          </a:p>
        </p:txBody>
      </p:sp>
      <p:sp>
        <p:nvSpPr>
          <p:cNvPr id="47" name="Text 45"/>
          <p:cNvSpPr/>
          <p:nvPr/>
        </p:nvSpPr>
        <p:spPr>
          <a:xfrm>
            <a:off x="5431536" y="4425696"/>
            <a:ext cx="336499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A3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Problems faced and how we fixed them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4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2D0660"/>
          </a:solidFill>
          <a:ln w="12700">
            <a:solidFill>
              <a:srgbClr val="2D066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046720" y="91440"/>
            <a:ext cx="274320" cy="274320"/>
          </a:xfrm>
          <a:prstGeom prst="ellipse">
            <a:avLst/>
          </a:prstGeom>
          <a:solidFill>
            <a:srgbClr val="FF7043">
              <a:alpha val="60000"/>
            </a:srgbClr>
          </a:solidFill>
          <a:ln w="12700">
            <a:solidFill>
              <a:srgbClr val="FF7043">
                <a:alpha val="6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412480" y="182880"/>
            <a:ext cx="182880" cy="182880"/>
          </a:xfrm>
          <a:prstGeom prst="ellipse">
            <a:avLst/>
          </a:prstGeom>
          <a:solidFill>
            <a:srgbClr val="FFAA80">
              <a:alpha val="60000"/>
            </a:srgbClr>
          </a:solidFill>
          <a:ln w="12700">
            <a:solidFill>
              <a:srgbClr val="FFAA80">
                <a:alpha val="6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84048" y="91440"/>
            <a:ext cx="8412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50" dirty="0">
                <a:solidFill>
                  <a:srgbClr val="FFA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 ·  THE PROBLEM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384048" y="621792"/>
            <a:ext cx="84124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05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does the census process need digitizing?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384048" y="1234440"/>
            <a:ext cx="1005840" cy="50292"/>
          </a:xfrm>
          <a:prstGeom prst="rect">
            <a:avLst/>
          </a:prstGeom>
          <a:solidFill>
            <a:srgbClr val="FF7043"/>
          </a:solidFill>
          <a:ln w="12700">
            <a:solidFill>
              <a:srgbClr val="FF7043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92608" y="1389888"/>
            <a:ext cx="2743200" cy="3456432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0D0F8"/>
            </a:solidFill>
            <a:prstDash val="solid"/>
          </a:ln>
          <a:effectLst>
            <a:outerShdw blurRad="177800" dist="508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1207008" y="1591056"/>
            <a:ext cx="914400" cy="914400"/>
          </a:xfrm>
          <a:prstGeom prst="ellipse">
            <a:avLst/>
          </a:prstGeom>
          <a:solidFill>
            <a:srgbClr val="2D0660"/>
          </a:solidFill>
          <a:ln w="12700">
            <a:solidFill>
              <a:srgbClr val="2D0660"/>
            </a:solidFill>
            <a:prstDash val="solid"/>
          </a:ln>
        </p:spPr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16736" y="1700784"/>
            <a:ext cx="694944" cy="694944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457200" y="2633472"/>
            <a:ext cx="241401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D066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Paper-Based Forms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1389888" y="3017520"/>
            <a:ext cx="548640" cy="36576"/>
          </a:xfrm>
          <a:prstGeom prst="rect">
            <a:avLst/>
          </a:prstGeom>
          <a:solidFill>
            <a:srgbClr val="FF7043"/>
          </a:solidFill>
          <a:ln w="12700">
            <a:solidFill>
              <a:srgbClr val="FF7043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457200" y="3127248"/>
            <a:ext cx="2414016" cy="1353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5A3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Census data is recorded on physical forms. These are slow to fill, easy to lose, and impossible to query without manual searching.</a:t>
            </a:r>
            <a:endParaRPr lang="en-US" sz="1150" dirty="0"/>
          </a:p>
        </p:txBody>
      </p:sp>
      <p:sp>
        <p:nvSpPr>
          <p:cNvPr id="14" name="Shape 11"/>
          <p:cNvSpPr/>
          <p:nvPr/>
        </p:nvSpPr>
        <p:spPr>
          <a:xfrm>
            <a:off x="3200400" y="1389888"/>
            <a:ext cx="2743200" cy="3456432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0D0F8"/>
            </a:solidFill>
            <a:prstDash val="solid"/>
          </a:ln>
          <a:effectLst>
            <a:outerShdw blurRad="177800" dist="508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4114800" y="1591056"/>
            <a:ext cx="914400" cy="914400"/>
          </a:xfrm>
          <a:prstGeom prst="ellipse">
            <a:avLst/>
          </a:prstGeom>
          <a:solidFill>
            <a:srgbClr val="6B21C8"/>
          </a:solidFill>
          <a:ln w="12700">
            <a:solidFill>
              <a:srgbClr val="6B21C8"/>
            </a:solidFill>
            <a:prstDash val="solid"/>
          </a:ln>
        </p:spPr>
      </p:sp>
      <p:pic>
        <p:nvPicPr>
          <p:cNvPr id="1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24528" y="1700784"/>
            <a:ext cx="694944" cy="694944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3364992" y="2633472"/>
            <a:ext cx="241401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D066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Search or Filter</a:t>
            </a:r>
            <a:endParaRPr lang="en-US" sz="1400" dirty="0"/>
          </a:p>
        </p:txBody>
      </p:sp>
      <p:sp>
        <p:nvSpPr>
          <p:cNvPr id="18" name="Shape 14"/>
          <p:cNvSpPr/>
          <p:nvPr/>
        </p:nvSpPr>
        <p:spPr>
          <a:xfrm>
            <a:off x="4297680" y="3017520"/>
            <a:ext cx="548640" cy="36576"/>
          </a:xfrm>
          <a:prstGeom prst="rect">
            <a:avLst/>
          </a:prstGeom>
          <a:solidFill>
            <a:srgbClr val="FF7043"/>
          </a:solidFill>
          <a:ln w="12700">
            <a:solidFill>
              <a:srgbClr val="FF7043"/>
            </a:solidFill>
            <a:prstDash val="solid"/>
          </a:ln>
        </p:spPr>
      </p:sp>
      <p:sp>
        <p:nvSpPr>
          <p:cNvPr id="19" name="Text 15"/>
          <p:cNvSpPr/>
          <p:nvPr/>
        </p:nvSpPr>
        <p:spPr>
          <a:xfrm>
            <a:off x="3364992" y="3127248"/>
            <a:ext cx="2414016" cy="1353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5A3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 a specific household or citizen in thousands of paper records takes hours   sometimes multiple working days.</a:t>
            </a:r>
            <a:endParaRPr lang="en-US" sz="1150" dirty="0"/>
          </a:p>
        </p:txBody>
      </p:sp>
      <p:sp>
        <p:nvSpPr>
          <p:cNvPr id="20" name="Shape 16"/>
          <p:cNvSpPr/>
          <p:nvPr/>
        </p:nvSpPr>
        <p:spPr>
          <a:xfrm>
            <a:off x="6108192" y="1389888"/>
            <a:ext cx="2743200" cy="3456432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0D0F8"/>
            </a:solidFill>
            <a:prstDash val="solid"/>
          </a:ln>
          <a:effectLst>
            <a:outerShdw blurRad="177800" dist="508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1" name="Shape 17"/>
          <p:cNvSpPr/>
          <p:nvPr/>
        </p:nvSpPr>
        <p:spPr>
          <a:xfrm>
            <a:off x="7022592" y="1591056"/>
            <a:ext cx="914400" cy="914400"/>
          </a:xfrm>
          <a:prstGeom prst="ellipse">
            <a:avLst/>
          </a:prstGeom>
          <a:solidFill>
            <a:srgbClr val="FF7043"/>
          </a:solidFill>
          <a:ln w="12700">
            <a:solidFill>
              <a:srgbClr val="FF7043"/>
            </a:solidFill>
            <a:prstDash val="solid"/>
          </a:ln>
        </p:spPr>
      </p:sp>
      <p:pic>
        <p:nvPicPr>
          <p:cNvPr id="2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32320" y="1700784"/>
            <a:ext cx="694944" cy="694944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6272784" y="2633472"/>
            <a:ext cx="241401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D066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Redundancy</a:t>
            </a:r>
            <a:endParaRPr lang="en-US" sz="1400" dirty="0"/>
          </a:p>
        </p:txBody>
      </p:sp>
      <p:sp>
        <p:nvSpPr>
          <p:cNvPr id="24" name="Shape 19"/>
          <p:cNvSpPr/>
          <p:nvPr/>
        </p:nvSpPr>
        <p:spPr>
          <a:xfrm>
            <a:off x="7205472" y="3017520"/>
            <a:ext cx="548640" cy="36576"/>
          </a:xfrm>
          <a:prstGeom prst="rect">
            <a:avLst/>
          </a:prstGeom>
          <a:solidFill>
            <a:srgbClr val="FF7043"/>
          </a:solidFill>
          <a:ln w="12700">
            <a:solidFill>
              <a:srgbClr val="FF7043"/>
            </a:solidFill>
            <a:prstDash val="solid"/>
          </a:ln>
        </p:spPr>
      </p:sp>
      <p:sp>
        <p:nvSpPr>
          <p:cNvPr id="25" name="Text 20"/>
          <p:cNvSpPr/>
          <p:nvPr/>
        </p:nvSpPr>
        <p:spPr>
          <a:xfrm>
            <a:off x="6272784" y="3127248"/>
            <a:ext cx="2414016" cy="1353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5A3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validation rules, the same family or citizen can be registered multiple times, making the data unreliable for policy.</a:t>
            </a:r>
            <a:endParaRPr lang="en-US" sz="1150" dirty="0"/>
          </a:p>
        </p:txBody>
      </p:sp>
      <p:sp>
        <p:nvSpPr>
          <p:cNvPr id="27" name="Text 22"/>
          <p:cNvSpPr/>
          <p:nvPr/>
        </p:nvSpPr>
        <p:spPr>
          <a:xfrm>
            <a:off x="292608" y="4645152"/>
            <a:ext cx="85587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4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2D0660"/>
          </a:solidFill>
          <a:ln w="12700">
            <a:solidFill>
              <a:srgbClr val="2D066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046720" y="91440"/>
            <a:ext cx="274320" cy="274320"/>
          </a:xfrm>
          <a:prstGeom prst="ellipse">
            <a:avLst/>
          </a:prstGeom>
          <a:solidFill>
            <a:srgbClr val="FF7043">
              <a:alpha val="60000"/>
            </a:srgbClr>
          </a:solidFill>
          <a:ln w="12700">
            <a:solidFill>
              <a:srgbClr val="FF7043">
                <a:alpha val="6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412480" y="182880"/>
            <a:ext cx="182880" cy="182880"/>
          </a:xfrm>
          <a:prstGeom prst="ellipse">
            <a:avLst/>
          </a:prstGeom>
          <a:solidFill>
            <a:srgbClr val="FFAA80">
              <a:alpha val="60000"/>
            </a:srgbClr>
          </a:solidFill>
          <a:ln w="12700">
            <a:solidFill>
              <a:srgbClr val="FFAA80">
                <a:alpha val="6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84048" y="91440"/>
            <a:ext cx="8412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50" dirty="0">
                <a:solidFill>
                  <a:srgbClr val="FFA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 ·  OBJECTIVES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384048" y="621792"/>
            <a:ext cx="84124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05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Six goals that shaped every design decision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384048" y="1234440"/>
            <a:ext cx="1005840" cy="50292"/>
          </a:xfrm>
          <a:prstGeom prst="rect">
            <a:avLst/>
          </a:prstGeom>
          <a:solidFill>
            <a:srgbClr val="FF7043"/>
          </a:solidFill>
          <a:ln w="12700">
            <a:solidFill>
              <a:srgbClr val="FF7043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20040" y="1389888"/>
            <a:ext cx="4169664" cy="1078992"/>
          </a:xfrm>
          <a:prstGeom prst="roundRect">
            <a:avLst>
              <a:gd name="adj" fmla="val 10169"/>
            </a:avLst>
          </a:prstGeom>
          <a:solidFill>
            <a:srgbClr val="FFFFFF"/>
          </a:solidFill>
          <a:ln w="12700">
            <a:solidFill>
              <a:srgbClr val="E0D0F8"/>
            </a:solidFill>
            <a:prstDash val="solid"/>
          </a:ln>
          <a:effectLst>
            <a:outerShdw blurRad="177800" dist="508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66344" y="1499616"/>
            <a:ext cx="566928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70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3000" dirty="0"/>
          </a:p>
        </p:txBody>
      </p:sp>
      <p:sp>
        <p:nvSpPr>
          <p:cNvPr id="10" name="Shape 8"/>
          <p:cNvSpPr/>
          <p:nvPr/>
        </p:nvSpPr>
        <p:spPr>
          <a:xfrm>
            <a:off x="1088136" y="1527048"/>
            <a:ext cx="36576" cy="804672"/>
          </a:xfrm>
          <a:prstGeom prst="rect">
            <a:avLst/>
          </a:prstGeom>
          <a:solidFill>
            <a:srgbClr val="E8DEFF"/>
          </a:solidFill>
          <a:ln w="12700">
            <a:solidFill>
              <a:srgbClr val="E8DE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216152" y="1517904"/>
            <a:ext cx="312724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D066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Digitize Census Forms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216152" y="1865376"/>
            <a:ext cx="3127248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A3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 all paper forms with structured, validated digital data entry in real time.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727448" y="1389888"/>
            <a:ext cx="4169664" cy="1078992"/>
          </a:xfrm>
          <a:prstGeom prst="roundRect">
            <a:avLst>
              <a:gd name="adj" fmla="val 10169"/>
            </a:avLst>
          </a:prstGeom>
          <a:solidFill>
            <a:srgbClr val="FFFFFF"/>
          </a:solidFill>
          <a:ln w="12700">
            <a:solidFill>
              <a:srgbClr val="E0D0F8"/>
            </a:solidFill>
            <a:prstDash val="solid"/>
          </a:ln>
          <a:effectLst>
            <a:outerShdw blurRad="177800" dist="508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873752" y="1499616"/>
            <a:ext cx="566928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70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3000" dirty="0"/>
          </a:p>
        </p:txBody>
      </p:sp>
      <p:sp>
        <p:nvSpPr>
          <p:cNvPr id="15" name="Shape 13"/>
          <p:cNvSpPr/>
          <p:nvPr/>
        </p:nvSpPr>
        <p:spPr>
          <a:xfrm>
            <a:off x="5495544" y="1527048"/>
            <a:ext cx="36576" cy="804672"/>
          </a:xfrm>
          <a:prstGeom prst="rect">
            <a:avLst/>
          </a:prstGeom>
          <a:solidFill>
            <a:srgbClr val="E8DEFF"/>
          </a:solidFill>
          <a:ln w="12700">
            <a:solidFill>
              <a:srgbClr val="E8DEF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623560" y="1517904"/>
            <a:ext cx="312724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D066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Secure Authentication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5623560" y="1865376"/>
            <a:ext cx="3127248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A3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SHA-256 password hashing protects officer accounts. No plain text ever stored.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20040" y="2578608"/>
            <a:ext cx="4169664" cy="1078992"/>
          </a:xfrm>
          <a:prstGeom prst="roundRect">
            <a:avLst>
              <a:gd name="adj" fmla="val 10169"/>
            </a:avLst>
          </a:prstGeom>
          <a:solidFill>
            <a:srgbClr val="FFFFFF"/>
          </a:solidFill>
          <a:ln w="12700">
            <a:solidFill>
              <a:srgbClr val="E0D0F8"/>
            </a:solidFill>
            <a:prstDash val="solid"/>
          </a:ln>
          <a:effectLst>
            <a:outerShdw blurRad="177800" dist="508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66344" y="2688336"/>
            <a:ext cx="566928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70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3000" dirty="0"/>
          </a:p>
        </p:txBody>
      </p:sp>
      <p:sp>
        <p:nvSpPr>
          <p:cNvPr id="20" name="Shape 18"/>
          <p:cNvSpPr/>
          <p:nvPr/>
        </p:nvSpPr>
        <p:spPr>
          <a:xfrm>
            <a:off x="1088136" y="2715768"/>
            <a:ext cx="36576" cy="804672"/>
          </a:xfrm>
          <a:prstGeom prst="rect">
            <a:avLst/>
          </a:prstGeom>
          <a:solidFill>
            <a:srgbClr val="E8DEFF"/>
          </a:solidFill>
          <a:ln w="12700">
            <a:solidFill>
              <a:srgbClr val="E8DEF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216152" y="2706624"/>
            <a:ext cx="312724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D066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Fast Search &amp; Reporting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216152" y="3054096"/>
            <a:ext cx="3127248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A3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any citizen or household in milliseconds. Generate reports in one click.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727448" y="2578608"/>
            <a:ext cx="4169664" cy="1078992"/>
          </a:xfrm>
          <a:prstGeom prst="roundRect">
            <a:avLst>
              <a:gd name="adj" fmla="val 10169"/>
            </a:avLst>
          </a:prstGeom>
          <a:solidFill>
            <a:srgbClr val="FFFFFF"/>
          </a:solidFill>
          <a:ln w="12700">
            <a:solidFill>
              <a:srgbClr val="E0D0F8"/>
            </a:solidFill>
            <a:prstDash val="solid"/>
          </a:ln>
          <a:effectLst>
            <a:outerShdw blurRad="177800" dist="508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4873752" y="2688336"/>
            <a:ext cx="566928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70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3000" dirty="0"/>
          </a:p>
        </p:txBody>
      </p:sp>
      <p:sp>
        <p:nvSpPr>
          <p:cNvPr id="25" name="Shape 23"/>
          <p:cNvSpPr/>
          <p:nvPr/>
        </p:nvSpPr>
        <p:spPr>
          <a:xfrm>
            <a:off x="5495544" y="2715768"/>
            <a:ext cx="36576" cy="804672"/>
          </a:xfrm>
          <a:prstGeom prst="rect">
            <a:avLst/>
          </a:prstGeom>
          <a:solidFill>
            <a:srgbClr val="E8DEFF"/>
          </a:solidFill>
          <a:ln w="12700">
            <a:solidFill>
              <a:srgbClr val="E8DEF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623560" y="2706624"/>
            <a:ext cx="312724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D066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Area-Based Organization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5623560" y="3054096"/>
            <a:ext cx="3127248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A3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Province → District → Tehsil mirrors Pakistan's real administrative geography.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320040" y="3767328"/>
            <a:ext cx="4169664" cy="1078992"/>
          </a:xfrm>
          <a:prstGeom prst="roundRect">
            <a:avLst>
              <a:gd name="adj" fmla="val 10169"/>
            </a:avLst>
          </a:prstGeom>
          <a:solidFill>
            <a:srgbClr val="FFFFFF"/>
          </a:solidFill>
          <a:ln w="12700">
            <a:solidFill>
              <a:srgbClr val="E0D0F8"/>
            </a:solidFill>
            <a:prstDash val="solid"/>
          </a:ln>
          <a:effectLst>
            <a:outerShdw blurRad="177800" dist="508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466344" y="3877056"/>
            <a:ext cx="566928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70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3000" dirty="0"/>
          </a:p>
        </p:txBody>
      </p:sp>
      <p:sp>
        <p:nvSpPr>
          <p:cNvPr id="30" name="Shape 28"/>
          <p:cNvSpPr/>
          <p:nvPr/>
        </p:nvSpPr>
        <p:spPr>
          <a:xfrm>
            <a:off x="1088136" y="3904488"/>
            <a:ext cx="36576" cy="804672"/>
          </a:xfrm>
          <a:prstGeom prst="rect">
            <a:avLst/>
          </a:prstGeom>
          <a:solidFill>
            <a:srgbClr val="E8DEFF"/>
          </a:solidFill>
          <a:ln w="12700">
            <a:solidFill>
              <a:srgbClr val="E8DEF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216152" y="3895344"/>
            <a:ext cx="312724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D066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Full CRUD for All Modules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1216152" y="4242816"/>
            <a:ext cx="3127248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A3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Add, view, edit and delete records for areas, households and citizens.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4727448" y="3767328"/>
            <a:ext cx="4169664" cy="1078992"/>
          </a:xfrm>
          <a:prstGeom prst="roundRect">
            <a:avLst>
              <a:gd name="adj" fmla="val 10169"/>
            </a:avLst>
          </a:prstGeom>
          <a:solidFill>
            <a:srgbClr val="FFFFFF"/>
          </a:solidFill>
          <a:ln w="12700">
            <a:solidFill>
              <a:srgbClr val="E0D0F8"/>
            </a:solidFill>
            <a:prstDash val="solid"/>
          </a:ln>
          <a:effectLst>
            <a:outerShdw blurRad="177800" dist="508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4" name="Text 32"/>
          <p:cNvSpPr/>
          <p:nvPr/>
        </p:nvSpPr>
        <p:spPr>
          <a:xfrm>
            <a:off x="4873752" y="3877056"/>
            <a:ext cx="566928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70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06</a:t>
            </a:r>
            <a:endParaRPr lang="en-US" sz="3000" dirty="0"/>
          </a:p>
        </p:txBody>
      </p:sp>
      <p:sp>
        <p:nvSpPr>
          <p:cNvPr id="35" name="Shape 33"/>
          <p:cNvSpPr/>
          <p:nvPr/>
        </p:nvSpPr>
        <p:spPr>
          <a:xfrm>
            <a:off x="5495544" y="3904488"/>
            <a:ext cx="36576" cy="804672"/>
          </a:xfrm>
          <a:prstGeom prst="rect">
            <a:avLst/>
          </a:prstGeom>
          <a:solidFill>
            <a:srgbClr val="E8DEFF"/>
          </a:solidFill>
          <a:ln w="12700">
            <a:solidFill>
              <a:srgbClr val="E8DEFF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623560" y="3895344"/>
            <a:ext cx="312724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D066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Live Dashboard Analytics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5623560" y="4242816"/>
            <a:ext cx="3127248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A3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totals: households, total citizens, male count, female count.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2D0660"/>
          </a:solidFill>
          <a:ln w="12700">
            <a:solidFill>
              <a:srgbClr val="2D066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669280" y="-1645920"/>
            <a:ext cx="5943600" cy="5943600"/>
          </a:xfrm>
          <a:prstGeom prst="ellipse">
            <a:avLst/>
          </a:prstGeom>
          <a:solidFill>
            <a:srgbClr val="FF7043">
              <a:alpha val="16000"/>
            </a:srgbClr>
          </a:solidFill>
          <a:ln w="12700">
            <a:solidFill>
              <a:srgbClr val="FF7043">
                <a:alpha val="16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-1645920" y="2926080"/>
            <a:ext cx="5029200" cy="5029200"/>
          </a:xfrm>
          <a:prstGeom prst="ellipse">
            <a:avLst/>
          </a:prstGeom>
          <a:solidFill>
            <a:srgbClr val="6B21C8">
              <a:alpha val="20000"/>
            </a:srgbClr>
          </a:solidFill>
          <a:ln w="12700">
            <a:solidFill>
              <a:srgbClr val="6B21C8">
                <a:alpha val="2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82880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350" dirty="0">
                <a:solidFill>
                  <a:srgbClr val="FFA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 STACK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57200" y="603504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Built with proven Microsoft technologies   no third-party libraries needed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320040" y="1298448"/>
            <a:ext cx="2670048" cy="1691640"/>
          </a:xfrm>
          <a:prstGeom prst="roundRect">
            <a:avLst>
              <a:gd name="adj" fmla="val 7568"/>
            </a:avLst>
          </a:prstGeom>
          <a:solidFill>
            <a:srgbClr val="200450"/>
          </a:solidFill>
          <a:ln w="12700">
            <a:solidFill>
              <a:srgbClr val="6B21C8">
                <a:alpha val="40000"/>
              </a:srgbClr>
            </a:solidFill>
            <a:prstDash val="solid"/>
          </a:ln>
          <a:effectLst>
            <a:outerShdw blurRad="177800" dist="50800" dir="2700000" algn="bl" rotWithShape="0">
              <a:srgbClr val="000000">
                <a:alpha val="2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502920" y="1591056"/>
            <a:ext cx="694944" cy="694944"/>
          </a:xfrm>
          <a:prstGeom prst="ellipse">
            <a:avLst/>
          </a:prstGeom>
          <a:solidFill>
            <a:srgbClr val="FF7043">
              <a:alpha val="82000"/>
            </a:srgbClr>
          </a:solidFill>
          <a:ln w="12700">
            <a:solidFill>
              <a:srgbClr val="FF7043">
                <a:alpha val="82000"/>
              </a:srgbClr>
            </a:solidFill>
            <a:prstDash val="solid"/>
          </a:ln>
        </p:spPr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7784" y="1645920"/>
            <a:ext cx="585216" cy="585216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325880" y="1499616"/>
            <a:ext cx="1554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FFA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1325880" y="1755648"/>
            <a:ext cx="1554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WPF (.NET Framework 4.8)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502920" y="2468880"/>
            <a:ext cx="2304288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88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XAML for rich UI · Data bindings · Styles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3172968" y="1298448"/>
            <a:ext cx="2670048" cy="1691640"/>
          </a:xfrm>
          <a:prstGeom prst="roundRect">
            <a:avLst>
              <a:gd name="adj" fmla="val 7568"/>
            </a:avLst>
          </a:prstGeom>
          <a:solidFill>
            <a:srgbClr val="200450"/>
          </a:solidFill>
          <a:ln w="12700">
            <a:solidFill>
              <a:srgbClr val="6B21C8">
                <a:alpha val="40000"/>
              </a:srgbClr>
            </a:solidFill>
            <a:prstDash val="solid"/>
          </a:ln>
          <a:effectLst>
            <a:outerShdw blurRad="177800" dist="50800" dir="2700000" algn="bl" rotWithShape="0">
              <a:srgbClr val="000000">
                <a:alpha val="22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3355848" y="1591056"/>
            <a:ext cx="694944" cy="694944"/>
          </a:xfrm>
          <a:prstGeom prst="ellipse">
            <a:avLst/>
          </a:prstGeom>
          <a:solidFill>
            <a:srgbClr val="FF7043">
              <a:alpha val="82000"/>
            </a:srgbClr>
          </a:solidFill>
          <a:ln w="12700">
            <a:solidFill>
              <a:srgbClr val="FF7043">
                <a:alpha val="82000"/>
              </a:srgbClr>
            </a:solidFill>
            <a:prstDash val="solid"/>
          </a:ln>
        </p:spPr>
      </p:sp>
      <p:pic>
        <p:nvPicPr>
          <p:cNvPr id="1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10712" y="1645920"/>
            <a:ext cx="585216" cy="585216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4178808" y="1499616"/>
            <a:ext cx="1554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FFA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900" dirty="0"/>
          </a:p>
        </p:txBody>
      </p:sp>
      <p:sp>
        <p:nvSpPr>
          <p:cNvPr id="17" name="Text 13"/>
          <p:cNvSpPr/>
          <p:nvPr/>
        </p:nvSpPr>
        <p:spPr>
          <a:xfrm>
            <a:off x="4178808" y="1755648"/>
            <a:ext cx="1554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C#</a:t>
            </a:r>
            <a:endParaRPr lang="en-US" sz="1300" dirty="0"/>
          </a:p>
        </p:txBody>
      </p:sp>
      <p:sp>
        <p:nvSpPr>
          <p:cNvPr id="18" name="Text 14"/>
          <p:cNvSpPr/>
          <p:nvPr/>
        </p:nvSpPr>
        <p:spPr>
          <a:xfrm>
            <a:off x="3355848" y="2468880"/>
            <a:ext cx="2304288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88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 handlers · Business logic · Validation</a:t>
            </a:r>
            <a:endParaRPr lang="en-US" sz="1000" dirty="0"/>
          </a:p>
        </p:txBody>
      </p:sp>
      <p:sp>
        <p:nvSpPr>
          <p:cNvPr id="19" name="Shape 15"/>
          <p:cNvSpPr/>
          <p:nvPr/>
        </p:nvSpPr>
        <p:spPr>
          <a:xfrm>
            <a:off x="6025896" y="1298448"/>
            <a:ext cx="2670048" cy="1691640"/>
          </a:xfrm>
          <a:prstGeom prst="roundRect">
            <a:avLst>
              <a:gd name="adj" fmla="val 7568"/>
            </a:avLst>
          </a:prstGeom>
          <a:solidFill>
            <a:srgbClr val="200450"/>
          </a:solidFill>
          <a:ln w="12700">
            <a:solidFill>
              <a:srgbClr val="6B21C8">
                <a:alpha val="40000"/>
              </a:srgbClr>
            </a:solidFill>
            <a:prstDash val="solid"/>
          </a:ln>
          <a:effectLst>
            <a:outerShdw blurRad="177800" dist="50800" dir="2700000" algn="bl" rotWithShape="0">
              <a:srgbClr val="000000">
                <a:alpha val="22000"/>
              </a:srgbClr>
            </a:outerShdw>
          </a:effectLst>
        </p:spPr>
      </p:sp>
      <p:sp>
        <p:nvSpPr>
          <p:cNvPr id="20" name="Shape 16"/>
          <p:cNvSpPr/>
          <p:nvPr/>
        </p:nvSpPr>
        <p:spPr>
          <a:xfrm>
            <a:off x="6208776" y="1591056"/>
            <a:ext cx="694944" cy="694944"/>
          </a:xfrm>
          <a:prstGeom prst="ellipse">
            <a:avLst/>
          </a:prstGeom>
          <a:solidFill>
            <a:srgbClr val="FF7043">
              <a:alpha val="82000"/>
            </a:srgbClr>
          </a:solidFill>
          <a:ln w="12700">
            <a:solidFill>
              <a:srgbClr val="FF7043">
                <a:alpha val="82000"/>
              </a:srgbClr>
            </a:solidFill>
            <a:prstDash val="solid"/>
          </a:ln>
        </p:spPr>
      </p:sp>
      <p:pic>
        <p:nvPicPr>
          <p:cNvPr id="2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63640" y="1645920"/>
            <a:ext cx="585216" cy="585216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7031736" y="1499616"/>
            <a:ext cx="1554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FFA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</a:t>
            </a:r>
            <a:endParaRPr lang="en-US" sz="900" dirty="0"/>
          </a:p>
        </p:txBody>
      </p:sp>
      <p:sp>
        <p:nvSpPr>
          <p:cNvPr id="23" name="Text 18"/>
          <p:cNvSpPr/>
          <p:nvPr/>
        </p:nvSpPr>
        <p:spPr>
          <a:xfrm>
            <a:off x="7031736" y="1755648"/>
            <a:ext cx="1554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Microsoft SQL Server</a:t>
            </a:r>
            <a:endParaRPr lang="en-US" sz="1300" dirty="0"/>
          </a:p>
        </p:txBody>
      </p:sp>
      <p:sp>
        <p:nvSpPr>
          <p:cNvPr id="24" name="Text 19"/>
          <p:cNvSpPr/>
          <p:nvPr/>
        </p:nvSpPr>
        <p:spPr>
          <a:xfrm>
            <a:off x="6208776" y="2468880"/>
            <a:ext cx="2304288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88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Relational tables · FK constraints · Queries</a:t>
            </a:r>
            <a:endParaRPr lang="en-US" sz="1000" dirty="0"/>
          </a:p>
        </p:txBody>
      </p:sp>
      <p:sp>
        <p:nvSpPr>
          <p:cNvPr id="25" name="Shape 20"/>
          <p:cNvSpPr/>
          <p:nvPr/>
        </p:nvSpPr>
        <p:spPr>
          <a:xfrm>
            <a:off x="320040" y="3127248"/>
            <a:ext cx="2670048" cy="1691640"/>
          </a:xfrm>
          <a:prstGeom prst="roundRect">
            <a:avLst>
              <a:gd name="adj" fmla="val 7568"/>
            </a:avLst>
          </a:prstGeom>
          <a:solidFill>
            <a:srgbClr val="200450"/>
          </a:solidFill>
          <a:ln w="12700">
            <a:solidFill>
              <a:srgbClr val="6B21C8">
                <a:alpha val="40000"/>
              </a:srgbClr>
            </a:solidFill>
            <a:prstDash val="solid"/>
          </a:ln>
          <a:effectLst>
            <a:outerShdw blurRad="177800" dist="50800" dir="2700000" algn="bl" rotWithShape="0">
              <a:srgbClr val="000000">
                <a:alpha val="22000"/>
              </a:srgbClr>
            </a:outerShdw>
          </a:effectLst>
        </p:spPr>
      </p:sp>
      <p:sp>
        <p:nvSpPr>
          <p:cNvPr id="26" name="Shape 21"/>
          <p:cNvSpPr/>
          <p:nvPr/>
        </p:nvSpPr>
        <p:spPr>
          <a:xfrm>
            <a:off x="502920" y="3419856"/>
            <a:ext cx="694944" cy="694944"/>
          </a:xfrm>
          <a:prstGeom prst="ellipse">
            <a:avLst/>
          </a:prstGeom>
          <a:solidFill>
            <a:srgbClr val="FF7043">
              <a:alpha val="82000"/>
            </a:srgbClr>
          </a:solidFill>
          <a:ln w="12700">
            <a:solidFill>
              <a:srgbClr val="FF7043">
                <a:alpha val="82000"/>
              </a:srgbClr>
            </a:solidFill>
            <a:prstDash val="solid"/>
          </a:ln>
        </p:spPr>
      </p:sp>
      <p:pic>
        <p:nvPicPr>
          <p:cNvPr id="27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57784" y="3474720"/>
            <a:ext cx="585216" cy="585216"/>
          </a:xfrm>
          <a:prstGeom prst="rect">
            <a:avLst/>
          </a:prstGeom>
        </p:spPr>
      </p:pic>
      <p:sp>
        <p:nvSpPr>
          <p:cNvPr id="28" name="Text 22"/>
          <p:cNvSpPr/>
          <p:nvPr/>
        </p:nvSpPr>
        <p:spPr>
          <a:xfrm>
            <a:off x="1325880" y="3328416"/>
            <a:ext cx="1554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FFA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ACCESS</a:t>
            </a:r>
            <a:endParaRPr lang="en-US" sz="900" dirty="0"/>
          </a:p>
        </p:txBody>
      </p:sp>
      <p:sp>
        <p:nvSpPr>
          <p:cNvPr id="29" name="Text 23"/>
          <p:cNvSpPr/>
          <p:nvPr/>
        </p:nvSpPr>
        <p:spPr>
          <a:xfrm>
            <a:off x="1325880" y="3584448"/>
            <a:ext cx="1554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ADO.NET</a:t>
            </a:r>
            <a:endParaRPr lang="en-US" sz="1300" dirty="0"/>
          </a:p>
        </p:txBody>
      </p:sp>
      <p:sp>
        <p:nvSpPr>
          <p:cNvPr id="30" name="Text 24"/>
          <p:cNvSpPr/>
          <p:nvPr/>
        </p:nvSpPr>
        <p:spPr>
          <a:xfrm>
            <a:off x="502920" y="4297680"/>
            <a:ext cx="2304288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88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SqlConnection · DataTable · SqlParameter</a:t>
            </a:r>
            <a:endParaRPr lang="en-US" sz="1000" dirty="0"/>
          </a:p>
        </p:txBody>
      </p:sp>
      <p:sp>
        <p:nvSpPr>
          <p:cNvPr id="31" name="Shape 25"/>
          <p:cNvSpPr/>
          <p:nvPr/>
        </p:nvSpPr>
        <p:spPr>
          <a:xfrm>
            <a:off x="3172968" y="3127248"/>
            <a:ext cx="2670048" cy="1691640"/>
          </a:xfrm>
          <a:prstGeom prst="roundRect">
            <a:avLst>
              <a:gd name="adj" fmla="val 7568"/>
            </a:avLst>
          </a:prstGeom>
          <a:solidFill>
            <a:srgbClr val="200450"/>
          </a:solidFill>
          <a:ln w="12700">
            <a:solidFill>
              <a:srgbClr val="6B21C8">
                <a:alpha val="40000"/>
              </a:srgbClr>
            </a:solidFill>
            <a:prstDash val="solid"/>
          </a:ln>
          <a:effectLst>
            <a:outerShdw blurRad="177800" dist="50800" dir="2700000" algn="bl" rotWithShape="0">
              <a:srgbClr val="000000">
                <a:alpha val="22000"/>
              </a:srgbClr>
            </a:outerShdw>
          </a:effectLst>
        </p:spPr>
      </p:sp>
      <p:sp>
        <p:nvSpPr>
          <p:cNvPr id="32" name="Shape 26"/>
          <p:cNvSpPr/>
          <p:nvPr/>
        </p:nvSpPr>
        <p:spPr>
          <a:xfrm>
            <a:off x="3355848" y="3419856"/>
            <a:ext cx="694944" cy="694944"/>
          </a:xfrm>
          <a:prstGeom prst="ellipse">
            <a:avLst/>
          </a:prstGeom>
          <a:solidFill>
            <a:srgbClr val="FF7043">
              <a:alpha val="82000"/>
            </a:srgbClr>
          </a:solidFill>
          <a:ln w="12700">
            <a:solidFill>
              <a:srgbClr val="FF7043">
                <a:alpha val="82000"/>
              </a:srgbClr>
            </a:solidFill>
            <a:prstDash val="solid"/>
          </a:ln>
        </p:spPr>
      </p:sp>
      <p:pic>
        <p:nvPicPr>
          <p:cNvPr id="33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410712" y="3474720"/>
            <a:ext cx="585216" cy="585216"/>
          </a:xfrm>
          <a:prstGeom prst="rect">
            <a:avLst/>
          </a:prstGeom>
        </p:spPr>
      </p:pic>
      <p:sp>
        <p:nvSpPr>
          <p:cNvPr id="34" name="Text 27"/>
          <p:cNvSpPr/>
          <p:nvPr/>
        </p:nvSpPr>
        <p:spPr>
          <a:xfrm>
            <a:off x="4178808" y="3328416"/>
            <a:ext cx="1554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FFA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</a:t>
            </a:r>
            <a:endParaRPr lang="en-US" sz="900" dirty="0"/>
          </a:p>
        </p:txBody>
      </p:sp>
      <p:sp>
        <p:nvSpPr>
          <p:cNvPr id="35" name="Text 28"/>
          <p:cNvSpPr/>
          <p:nvPr/>
        </p:nvSpPr>
        <p:spPr>
          <a:xfrm>
            <a:off x="4178808" y="3584448"/>
            <a:ext cx="1554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SHA-256 Hashing</a:t>
            </a:r>
            <a:endParaRPr lang="en-US" sz="1300" dirty="0"/>
          </a:p>
        </p:txBody>
      </p:sp>
      <p:sp>
        <p:nvSpPr>
          <p:cNvPr id="36" name="Text 29"/>
          <p:cNvSpPr/>
          <p:nvPr/>
        </p:nvSpPr>
        <p:spPr>
          <a:xfrm>
            <a:off x="3355848" y="4297680"/>
            <a:ext cx="2304288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 err="1">
                <a:solidFill>
                  <a:srgbClr val="988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System.Security.Cryptography</a:t>
            </a:r>
            <a:r>
              <a:rPr lang="en-US" sz="1000" dirty="0">
                <a:solidFill>
                  <a:srgbClr val="988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built in</a:t>
            </a:r>
            <a:endParaRPr lang="en-US" sz="1000" dirty="0"/>
          </a:p>
        </p:txBody>
      </p:sp>
      <p:sp>
        <p:nvSpPr>
          <p:cNvPr id="37" name="Shape 30"/>
          <p:cNvSpPr/>
          <p:nvPr/>
        </p:nvSpPr>
        <p:spPr>
          <a:xfrm>
            <a:off x="6025896" y="3127248"/>
            <a:ext cx="2670048" cy="1691640"/>
          </a:xfrm>
          <a:prstGeom prst="roundRect">
            <a:avLst>
              <a:gd name="adj" fmla="val 7568"/>
            </a:avLst>
          </a:prstGeom>
          <a:solidFill>
            <a:srgbClr val="200450"/>
          </a:solidFill>
          <a:ln w="12700">
            <a:solidFill>
              <a:srgbClr val="6B21C8">
                <a:alpha val="40000"/>
              </a:srgbClr>
            </a:solidFill>
            <a:prstDash val="solid"/>
          </a:ln>
          <a:effectLst>
            <a:outerShdw blurRad="177800" dist="50800" dir="2700000" algn="bl" rotWithShape="0">
              <a:srgbClr val="000000">
                <a:alpha val="22000"/>
              </a:srgbClr>
            </a:outerShdw>
          </a:effectLst>
        </p:spPr>
      </p:sp>
      <p:sp>
        <p:nvSpPr>
          <p:cNvPr id="38" name="Shape 31"/>
          <p:cNvSpPr/>
          <p:nvPr/>
        </p:nvSpPr>
        <p:spPr>
          <a:xfrm>
            <a:off x="6208776" y="3419856"/>
            <a:ext cx="694944" cy="694944"/>
          </a:xfrm>
          <a:prstGeom prst="ellipse">
            <a:avLst/>
          </a:prstGeom>
          <a:solidFill>
            <a:srgbClr val="FF7043">
              <a:alpha val="82000"/>
            </a:srgbClr>
          </a:solidFill>
          <a:ln w="12700">
            <a:solidFill>
              <a:srgbClr val="FF7043">
                <a:alpha val="82000"/>
              </a:srgbClr>
            </a:solidFill>
            <a:prstDash val="solid"/>
          </a:ln>
        </p:spPr>
      </p:sp>
      <p:pic>
        <p:nvPicPr>
          <p:cNvPr id="39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263640" y="3474720"/>
            <a:ext cx="585216" cy="585216"/>
          </a:xfrm>
          <a:prstGeom prst="rect">
            <a:avLst/>
          </a:prstGeom>
        </p:spPr>
      </p:pic>
      <p:sp>
        <p:nvSpPr>
          <p:cNvPr id="40" name="Text 32"/>
          <p:cNvSpPr/>
          <p:nvPr/>
        </p:nvSpPr>
        <p:spPr>
          <a:xfrm>
            <a:off x="7031736" y="3328416"/>
            <a:ext cx="1554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FFA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PATTERN</a:t>
            </a:r>
            <a:endParaRPr lang="en-US" sz="900" dirty="0"/>
          </a:p>
        </p:txBody>
      </p:sp>
      <p:sp>
        <p:nvSpPr>
          <p:cNvPr id="41" name="Text 33"/>
          <p:cNvSpPr/>
          <p:nvPr/>
        </p:nvSpPr>
        <p:spPr>
          <a:xfrm>
            <a:off x="7031736" y="3584448"/>
            <a:ext cx="1554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Layered Architecture</a:t>
            </a:r>
            <a:endParaRPr lang="en-US" sz="1300" dirty="0"/>
          </a:p>
        </p:txBody>
      </p:sp>
      <p:sp>
        <p:nvSpPr>
          <p:cNvPr id="42" name="Text 34"/>
          <p:cNvSpPr/>
          <p:nvPr/>
        </p:nvSpPr>
        <p:spPr>
          <a:xfrm>
            <a:off x="6208776" y="4297680"/>
            <a:ext cx="2304288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88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 → Business Logic → Database separation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4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2D0660"/>
          </a:solidFill>
          <a:ln w="12700">
            <a:solidFill>
              <a:srgbClr val="2D066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046720" y="91440"/>
            <a:ext cx="274320" cy="274320"/>
          </a:xfrm>
          <a:prstGeom prst="ellipse">
            <a:avLst/>
          </a:prstGeom>
          <a:solidFill>
            <a:srgbClr val="FF7043">
              <a:alpha val="60000"/>
            </a:srgbClr>
          </a:solidFill>
          <a:ln w="12700">
            <a:solidFill>
              <a:srgbClr val="FF7043">
                <a:alpha val="6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412480" y="182880"/>
            <a:ext cx="182880" cy="182880"/>
          </a:xfrm>
          <a:prstGeom prst="ellipse">
            <a:avLst/>
          </a:prstGeom>
          <a:solidFill>
            <a:srgbClr val="FFAA80">
              <a:alpha val="60000"/>
            </a:srgbClr>
          </a:solidFill>
          <a:ln w="12700">
            <a:solidFill>
              <a:srgbClr val="FFAA80">
                <a:alpha val="6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84048" y="91440"/>
            <a:ext cx="8412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50" dirty="0">
                <a:solidFill>
                  <a:srgbClr val="FFA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 ·  ARCHITECTURE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384048" y="621792"/>
            <a:ext cx="84124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05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Three-layer separation of concerns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384048" y="1234440"/>
            <a:ext cx="1005840" cy="50292"/>
          </a:xfrm>
          <a:prstGeom prst="rect">
            <a:avLst/>
          </a:prstGeom>
          <a:solidFill>
            <a:srgbClr val="FF7043"/>
          </a:solidFill>
          <a:ln w="12700">
            <a:solidFill>
              <a:srgbClr val="FF7043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74320" y="1389888"/>
            <a:ext cx="2743200" cy="3547872"/>
          </a:xfrm>
          <a:prstGeom prst="roundRect">
            <a:avLst>
              <a:gd name="adj" fmla="val 4667"/>
            </a:avLst>
          </a:prstGeom>
          <a:solidFill>
            <a:srgbClr val="2D0660"/>
          </a:solidFill>
          <a:ln w="12700">
            <a:solidFill>
              <a:srgbClr val="2D0660"/>
            </a:solidFill>
            <a:prstDash val="solid"/>
          </a:ln>
          <a:effectLst>
            <a:outerShdw blurRad="177800" dist="50800" dir="2700000" algn="bl" rotWithShape="0">
              <a:srgbClr val="000000">
                <a:alpha val="2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84048" y="1499616"/>
            <a:ext cx="2523744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kern="0" spc="150" dirty="0">
                <a:solidFill>
                  <a:srgbClr val="FFA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PRESENTATION LAYER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02336" y="2048256"/>
            <a:ext cx="2487168" cy="402336"/>
          </a:xfrm>
          <a:prstGeom prst="roundRect">
            <a:avLst>
              <a:gd name="adj" fmla="val 15909"/>
            </a:avLst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28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38912" y="2048256"/>
            <a:ext cx="241401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SplashScreen.xaml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02336" y="2523744"/>
            <a:ext cx="2487168" cy="402336"/>
          </a:xfrm>
          <a:prstGeom prst="roundRect">
            <a:avLst>
              <a:gd name="adj" fmla="val 15909"/>
            </a:avLst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28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38912" y="2523744"/>
            <a:ext cx="241401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LoginWindow.xaml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402336" y="2999232"/>
            <a:ext cx="2487168" cy="402336"/>
          </a:xfrm>
          <a:prstGeom prst="roundRect">
            <a:avLst>
              <a:gd name="adj" fmla="val 15909"/>
            </a:avLst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2800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38912" y="2999232"/>
            <a:ext cx="241401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SignupWindow.xaml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02336" y="3474720"/>
            <a:ext cx="2487168" cy="402336"/>
          </a:xfrm>
          <a:prstGeom prst="roundRect">
            <a:avLst>
              <a:gd name="adj" fmla="val 15909"/>
            </a:avLst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2800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38912" y="3474720"/>
            <a:ext cx="241401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HomeWindow.xaml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402336" y="3950208"/>
            <a:ext cx="2487168" cy="402336"/>
          </a:xfrm>
          <a:prstGeom prst="roundRect">
            <a:avLst>
              <a:gd name="adj" fmla="val 15909"/>
            </a:avLst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2800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38912" y="3950208"/>
            <a:ext cx="241401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AreaWindow.xaml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02336" y="4425696"/>
            <a:ext cx="2487168" cy="402336"/>
          </a:xfrm>
          <a:prstGeom prst="roundRect">
            <a:avLst>
              <a:gd name="adj" fmla="val 15909"/>
            </a:avLst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2800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38912" y="4425696"/>
            <a:ext cx="241401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HouseholdWindow.xaml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402336" y="4901184"/>
            <a:ext cx="2487168" cy="402336"/>
          </a:xfrm>
          <a:prstGeom prst="roundRect">
            <a:avLst>
              <a:gd name="adj" fmla="val 15909"/>
            </a:avLst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2800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38912" y="4901184"/>
            <a:ext cx="241401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CitizenWindow.xaml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402336" y="5376672"/>
            <a:ext cx="2487168" cy="402336"/>
          </a:xfrm>
          <a:prstGeom prst="roundRect">
            <a:avLst>
              <a:gd name="adj" fmla="val 15909"/>
            </a:avLst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2800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38912" y="5376672"/>
            <a:ext cx="241401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AddCitizenWindow.xaml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3182112" y="1389888"/>
            <a:ext cx="2743200" cy="3547872"/>
          </a:xfrm>
          <a:prstGeom prst="roundRect">
            <a:avLst>
              <a:gd name="adj" fmla="val 4667"/>
            </a:avLst>
          </a:prstGeom>
          <a:solidFill>
            <a:srgbClr val="6B21C8"/>
          </a:solidFill>
          <a:ln w="12700">
            <a:solidFill>
              <a:srgbClr val="6B21C8"/>
            </a:solidFill>
            <a:prstDash val="solid"/>
          </a:ln>
          <a:effectLst>
            <a:outerShdw blurRad="177800" dist="50800" dir="2700000" algn="bl" rotWithShape="0">
              <a:srgbClr val="000000">
                <a:alpha val="22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3291840" y="1499616"/>
            <a:ext cx="2523744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kern="0" spc="150" dirty="0">
                <a:solidFill>
                  <a:srgbClr val="FFA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LOGIC LAYER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3310128" y="2048256"/>
            <a:ext cx="2487168" cy="402336"/>
          </a:xfrm>
          <a:prstGeom prst="roundRect">
            <a:avLst>
              <a:gd name="adj" fmla="val 15909"/>
            </a:avLst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2800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346704" y="2048256"/>
            <a:ext cx="241401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PasswordHelper.cs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3310128" y="2523744"/>
            <a:ext cx="2487168" cy="402336"/>
          </a:xfrm>
          <a:prstGeom prst="roundRect">
            <a:avLst>
              <a:gd name="adj" fmla="val 15909"/>
            </a:avLst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28000"/>
              </a:srgbClr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346704" y="2523744"/>
            <a:ext cx="241401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SessionManager.cs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3310128" y="2999232"/>
            <a:ext cx="2487168" cy="402336"/>
          </a:xfrm>
          <a:prstGeom prst="roundRect">
            <a:avLst>
              <a:gd name="adj" fmla="val 15909"/>
            </a:avLst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28000"/>
              </a:srgbClr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346704" y="2999232"/>
            <a:ext cx="241401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CNIC validation (regex)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3310128" y="3474720"/>
            <a:ext cx="2487168" cy="402336"/>
          </a:xfrm>
          <a:prstGeom prst="roundRect">
            <a:avLst>
              <a:gd name="adj" fmla="val 15909"/>
            </a:avLst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28000"/>
              </a:srgbClr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346704" y="3474720"/>
            <a:ext cx="241401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Empty field checks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3310128" y="3950208"/>
            <a:ext cx="2487168" cy="402336"/>
          </a:xfrm>
          <a:prstGeom prst="roundRect">
            <a:avLst>
              <a:gd name="adj" fmla="val 15909"/>
            </a:avLst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28000"/>
              </a:srgbClr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346704" y="3950208"/>
            <a:ext cx="241401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 auto-calculation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3310128" y="4425696"/>
            <a:ext cx="2487168" cy="402336"/>
          </a:xfrm>
          <a:prstGeom prst="roundRect">
            <a:avLst>
              <a:gd name="adj" fmla="val 15909"/>
            </a:avLst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28000"/>
              </a:srgbClr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346704" y="4425696"/>
            <a:ext cx="241401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Duplicate CNIC guard</a:t>
            </a:r>
            <a:endParaRPr lang="en-US" sz="1050" dirty="0"/>
          </a:p>
        </p:txBody>
      </p:sp>
      <p:sp>
        <p:nvSpPr>
          <p:cNvPr id="40" name="Shape 38"/>
          <p:cNvSpPr/>
          <p:nvPr/>
        </p:nvSpPr>
        <p:spPr>
          <a:xfrm>
            <a:off x="6089904" y="1389888"/>
            <a:ext cx="2743200" cy="3547872"/>
          </a:xfrm>
          <a:prstGeom prst="roundRect">
            <a:avLst>
              <a:gd name="adj" fmla="val 4667"/>
            </a:avLst>
          </a:prstGeom>
          <a:solidFill>
            <a:srgbClr val="FF7043"/>
          </a:solidFill>
          <a:ln w="12700">
            <a:solidFill>
              <a:srgbClr val="FF7043"/>
            </a:solidFill>
            <a:prstDash val="solid"/>
          </a:ln>
          <a:effectLst>
            <a:outerShdw blurRad="177800" dist="50800" dir="2700000" algn="bl" rotWithShape="0">
              <a:srgbClr val="000000">
                <a:alpha val="22000"/>
              </a:srgbClr>
            </a:outerShdw>
          </a:effectLst>
        </p:spPr>
      </p:sp>
      <p:sp>
        <p:nvSpPr>
          <p:cNvPr id="41" name="Text 39"/>
          <p:cNvSpPr/>
          <p:nvPr/>
        </p:nvSpPr>
        <p:spPr>
          <a:xfrm>
            <a:off x="6199632" y="1499616"/>
            <a:ext cx="2523744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kern="0" spc="150" dirty="0">
                <a:solidFill>
                  <a:srgbClr val="FFA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ACCESS LAYER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6217920" y="2048256"/>
            <a:ext cx="2487168" cy="402336"/>
          </a:xfrm>
          <a:prstGeom prst="roundRect">
            <a:avLst>
              <a:gd name="adj" fmla="val 15909"/>
            </a:avLst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28000"/>
              </a:srgbClr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254496" y="2048256"/>
            <a:ext cx="241401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DatabaseHelper.cs</a:t>
            </a:r>
            <a:endParaRPr lang="en-US" sz="1050" dirty="0"/>
          </a:p>
        </p:txBody>
      </p:sp>
      <p:sp>
        <p:nvSpPr>
          <p:cNvPr id="44" name="Shape 42"/>
          <p:cNvSpPr/>
          <p:nvPr/>
        </p:nvSpPr>
        <p:spPr>
          <a:xfrm>
            <a:off x="6217920" y="2523744"/>
            <a:ext cx="2487168" cy="402336"/>
          </a:xfrm>
          <a:prstGeom prst="roundRect">
            <a:avLst>
              <a:gd name="adj" fmla="val 15909"/>
            </a:avLst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28000"/>
              </a:srgbClr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254496" y="2523744"/>
            <a:ext cx="241401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ExecuteQuery()</a:t>
            </a:r>
            <a:endParaRPr lang="en-US" sz="1050" dirty="0"/>
          </a:p>
        </p:txBody>
      </p:sp>
      <p:sp>
        <p:nvSpPr>
          <p:cNvPr id="46" name="Shape 44"/>
          <p:cNvSpPr/>
          <p:nvPr/>
        </p:nvSpPr>
        <p:spPr>
          <a:xfrm>
            <a:off x="6217920" y="2999232"/>
            <a:ext cx="2487168" cy="402336"/>
          </a:xfrm>
          <a:prstGeom prst="roundRect">
            <a:avLst>
              <a:gd name="adj" fmla="val 15909"/>
            </a:avLst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28000"/>
              </a:srgbClr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6254496" y="2999232"/>
            <a:ext cx="241401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ExecuteNonQuery()</a:t>
            </a:r>
            <a:endParaRPr lang="en-US" sz="1050" dirty="0"/>
          </a:p>
        </p:txBody>
      </p:sp>
      <p:sp>
        <p:nvSpPr>
          <p:cNvPr id="48" name="Shape 46"/>
          <p:cNvSpPr/>
          <p:nvPr/>
        </p:nvSpPr>
        <p:spPr>
          <a:xfrm>
            <a:off x="6217920" y="3474720"/>
            <a:ext cx="2487168" cy="402336"/>
          </a:xfrm>
          <a:prstGeom prst="roundRect">
            <a:avLst>
              <a:gd name="adj" fmla="val 15909"/>
            </a:avLst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28000"/>
              </a:srgbClr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6254496" y="3474720"/>
            <a:ext cx="241401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ExecuteScalar()</a:t>
            </a:r>
            <a:endParaRPr lang="en-US" sz="1050" dirty="0"/>
          </a:p>
        </p:txBody>
      </p:sp>
      <p:sp>
        <p:nvSpPr>
          <p:cNvPr id="50" name="Shape 48"/>
          <p:cNvSpPr/>
          <p:nvPr/>
        </p:nvSpPr>
        <p:spPr>
          <a:xfrm>
            <a:off x="6217920" y="3950208"/>
            <a:ext cx="2487168" cy="402336"/>
          </a:xfrm>
          <a:prstGeom prst="roundRect">
            <a:avLst>
              <a:gd name="adj" fmla="val 15909"/>
            </a:avLst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28000"/>
              </a:srgbClr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6254496" y="3950208"/>
            <a:ext cx="241401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SqlParameter (safe)</a:t>
            </a:r>
            <a:endParaRPr lang="en-US" sz="1050" dirty="0"/>
          </a:p>
        </p:txBody>
      </p:sp>
      <p:sp>
        <p:nvSpPr>
          <p:cNvPr id="52" name="Shape 50"/>
          <p:cNvSpPr/>
          <p:nvPr/>
        </p:nvSpPr>
        <p:spPr>
          <a:xfrm>
            <a:off x="6217920" y="4425696"/>
            <a:ext cx="2487168" cy="402336"/>
          </a:xfrm>
          <a:prstGeom prst="roundRect">
            <a:avLst>
              <a:gd name="adj" fmla="val 15909"/>
            </a:avLst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28000"/>
              </a:srgbClr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6254496" y="4425696"/>
            <a:ext cx="241401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TestConnection()</a:t>
            </a:r>
            <a:endParaRPr lang="en-US" sz="1050" dirty="0"/>
          </a:p>
        </p:txBody>
      </p:sp>
      <p:sp>
        <p:nvSpPr>
          <p:cNvPr id="54" name="Shape 52"/>
          <p:cNvSpPr/>
          <p:nvPr/>
        </p:nvSpPr>
        <p:spPr>
          <a:xfrm>
            <a:off x="3035808" y="3108960"/>
            <a:ext cx="146304" cy="0"/>
          </a:xfrm>
          <a:prstGeom prst="line">
            <a:avLst/>
          </a:prstGeom>
          <a:noFill/>
          <a:ln w="25400">
            <a:solidFill>
              <a:srgbClr val="FF7043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2871216" y="2944368"/>
            <a:ext cx="4754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FF7043"/>
                </a:solidFill>
              </a:rPr>
              <a:t>→</a:t>
            </a:r>
            <a:endParaRPr lang="en-US" sz="2200" dirty="0"/>
          </a:p>
        </p:txBody>
      </p:sp>
      <p:sp>
        <p:nvSpPr>
          <p:cNvPr id="56" name="Shape 54"/>
          <p:cNvSpPr/>
          <p:nvPr/>
        </p:nvSpPr>
        <p:spPr>
          <a:xfrm>
            <a:off x="5943600" y="3108960"/>
            <a:ext cx="146304" cy="0"/>
          </a:xfrm>
          <a:prstGeom prst="line">
            <a:avLst/>
          </a:prstGeom>
          <a:noFill/>
          <a:ln w="25400">
            <a:solidFill>
              <a:srgbClr val="FF7043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5779008" y="2944368"/>
            <a:ext cx="4754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FF7043"/>
                </a:solidFill>
              </a:rPr>
              <a:t>→</a:t>
            </a:r>
            <a:endParaRPr lang="en-US" sz="2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4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2D0660"/>
          </a:solidFill>
          <a:ln w="12700">
            <a:solidFill>
              <a:srgbClr val="2D066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046720" y="91440"/>
            <a:ext cx="274320" cy="274320"/>
          </a:xfrm>
          <a:prstGeom prst="ellipse">
            <a:avLst/>
          </a:prstGeom>
          <a:solidFill>
            <a:srgbClr val="FF7043">
              <a:alpha val="60000"/>
            </a:srgbClr>
          </a:solidFill>
          <a:ln w="12700">
            <a:solidFill>
              <a:srgbClr val="FF7043">
                <a:alpha val="6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412480" y="182880"/>
            <a:ext cx="182880" cy="182880"/>
          </a:xfrm>
          <a:prstGeom prst="ellipse">
            <a:avLst/>
          </a:prstGeom>
          <a:solidFill>
            <a:srgbClr val="FFAA80">
              <a:alpha val="60000"/>
            </a:srgbClr>
          </a:solidFill>
          <a:ln w="12700">
            <a:solidFill>
              <a:srgbClr val="FFAA80">
                <a:alpha val="6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84048" y="91440"/>
            <a:ext cx="8412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50" dirty="0">
                <a:solidFill>
                  <a:srgbClr val="FFA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 ·  DATABASE DESIGN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384048" y="621792"/>
            <a:ext cx="84124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A05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 tables · 3 foreign key relationships · Fully normalized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384048" y="1234440"/>
            <a:ext cx="1005840" cy="50292"/>
          </a:xfrm>
          <a:prstGeom prst="rect">
            <a:avLst/>
          </a:prstGeom>
          <a:solidFill>
            <a:srgbClr val="FF7043"/>
          </a:solidFill>
          <a:ln w="12700">
            <a:solidFill>
              <a:srgbClr val="FF7043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37744" y="1371600"/>
            <a:ext cx="2048256" cy="475488"/>
          </a:xfrm>
          <a:prstGeom prst="roundRect">
            <a:avLst>
              <a:gd name="adj" fmla="val 19231"/>
            </a:avLst>
          </a:prstGeom>
          <a:solidFill>
            <a:srgbClr val="2D0660"/>
          </a:solidFill>
          <a:ln w="12700">
            <a:solidFill>
              <a:srgbClr val="2D066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37744" y="1371600"/>
            <a:ext cx="20482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Users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237744" y="1883664"/>
            <a:ext cx="2048256" cy="2176272"/>
          </a:xfrm>
          <a:prstGeom prst="roundRect">
            <a:avLst>
              <a:gd name="adj" fmla="val 3571"/>
            </a:avLst>
          </a:prstGeom>
          <a:solidFill>
            <a:srgbClr val="FFFFFF"/>
          </a:solidFill>
          <a:ln w="15240">
            <a:solidFill>
              <a:srgbClr val="E8DEFF"/>
            </a:solidFill>
            <a:prstDash val="solid"/>
          </a:ln>
          <a:effectLst>
            <a:outerShdw blurRad="177800" dist="508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65760" y="1938528"/>
            <a:ext cx="179222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2D0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🔑 UserID (PK)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365760" y="2340864"/>
            <a:ext cx="179222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A3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FullName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365760" y="2743200"/>
            <a:ext cx="179222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21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 Email (UNIQUE)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365760" y="3145536"/>
            <a:ext cx="179222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A3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PasswordHash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365760" y="3547872"/>
            <a:ext cx="179222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A3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CreatedAt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2432304" y="1371600"/>
            <a:ext cx="2048256" cy="475488"/>
          </a:xfrm>
          <a:prstGeom prst="roundRect">
            <a:avLst>
              <a:gd name="adj" fmla="val 19231"/>
            </a:avLst>
          </a:prstGeom>
          <a:solidFill>
            <a:srgbClr val="6B21C8"/>
          </a:solidFill>
          <a:ln w="12700">
            <a:solidFill>
              <a:srgbClr val="6B21C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432304" y="1371600"/>
            <a:ext cx="20482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Areas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2432304" y="1883664"/>
            <a:ext cx="2048256" cy="1773936"/>
          </a:xfrm>
          <a:prstGeom prst="roundRect">
            <a:avLst>
              <a:gd name="adj" fmla="val 4124"/>
            </a:avLst>
          </a:prstGeom>
          <a:solidFill>
            <a:srgbClr val="FFFFFF"/>
          </a:solidFill>
          <a:ln w="15240">
            <a:solidFill>
              <a:srgbClr val="E8DEFF"/>
            </a:solidFill>
            <a:prstDash val="solid"/>
          </a:ln>
          <a:effectLst>
            <a:outerShdw blurRad="177800" dist="508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2560320" y="1938528"/>
            <a:ext cx="179222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2D0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🔑 AreaID (PK)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2560320" y="2340864"/>
            <a:ext cx="179222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A3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Province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2560320" y="2743200"/>
            <a:ext cx="179222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A3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District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2560320" y="3145536"/>
            <a:ext cx="179222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A3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Tehsil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4626864" y="1371600"/>
            <a:ext cx="2048256" cy="475488"/>
          </a:xfrm>
          <a:prstGeom prst="roundRect">
            <a:avLst>
              <a:gd name="adj" fmla="val 19231"/>
            </a:avLst>
          </a:prstGeom>
          <a:solidFill>
            <a:srgbClr val="FF7043"/>
          </a:solidFill>
          <a:ln w="12700">
            <a:solidFill>
              <a:srgbClr val="FF7043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626864" y="1371600"/>
            <a:ext cx="20482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Households</a:t>
            </a:r>
            <a:endParaRPr lang="en-US" sz="1500" dirty="0"/>
          </a:p>
        </p:txBody>
      </p:sp>
      <p:sp>
        <p:nvSpPr>
          <p:cNvPr id="25" name="Shape 23"/>
          <p:cNvSpPr/>
          <p:nvPr/>
        </p:nvSpPr>
        <p:spPr>
          <a:xfrm>
            <a:off x="4626864" y="1883664"/>
            <a:ext cx="2048256" cy="2980944"/>
          </a:xfrm>
          <a:prstGeom prst="roundRect">
            <a:avLst>
              <a:gd name="adj" fmla="val 3571"/>
            </a:avLst>
          </a:prstGeom>
          <a:solidFill>
            <a:srgbClr val="FFFFFF"/>
          </a:solidFill>
          <a:ln w="15240">
            <a:solidFill>
              <a:srgbClr val="E8DEFF"/>
            </a:solidFill>
            <a:prstDash val="solid"/>
          </a:ln>
          <a:effectLst>
            <a:outerShdw blurRad="177800" dist="508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4754880" y="1938528"/>
            <a:ext cx="179222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2D0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🔑 HouseholdID (PK)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4754880" y="2340864"/>
            <a:ext cx="179222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A3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HouseNumber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4754880" y="2743200"/>
            <a:ext cx="179222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A3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FamilyNumber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4754880" y="3145536"/>
            <a:ext cx="179222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A3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HeadOfFamily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4754880" y="3547872"/>
            <a:ext cx="179222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A3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NumberOfMembers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4754880" y="3950208"/>
            <a:ext cx="179222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A3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Address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4754880" y="4352544"/>
            <a:ext cx="179222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70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🔗 AreaID (FK)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6821424" y="1371600"/>
            <a:ext cx="2048256" cy="475488"/>
          </a:xfrm>
          <a:prstGeom prst="roundRect">
            <a:avLst>
              <a:gd name="adj" fmla="val 19231"/>
            </a:avLst>
          </a:prstGeom>
          <a:solidFill>
            <a:srgbClr val="9D5EE8"/>
          </a:solidFill>
          <a:ln w="12700">
            <a:solidFill>
              <a:srgbClr val="9D5EE8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821424" y="1371600"/>
            <a:ext cx="20482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Citizens</a:t>
            </a:r>
            <a:endParaRPr lang="en-US" sz="1500" dirty="0"/>
          </a:p>
        </p:txBody>
      </p:sp>
      <p:sp>
        <p:nvSpPr>
          <p:cNvPr id="35" name="Shape 33"/>
          <p:cNvSpPr/>
          <p:nvPr/>
        </p:nvSpPr>
        <p:spPr>
          <a:xfrm>
            <a:off x="6821424" y="1883664"/>
            <a:ext cx="2048256" cy="3259836"/>
          </a:xfrm>
          <a:prstGeom prst="roundRect">
            <a:avLst>
              <a:gd name="adj" fmla="val 3571"/>
            </a:avLst>
          </a:prstGeom>
          <a:solidFill>
            <a:srgbClr val="FFFFFF"/>
          </a:solidFill>
          <a:ln w="15240">
            <a:solidFill>
              <a:srgbClr val="E8DEFF"/>
            </a:solidFill>
            <a:prstDash val="solid"/>
          </a:ln>
          <a:effectLst>
            <a:outerShdw blurRad="177800" dist="508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6" name="Text 34"/>
          <p:cNvSpPr/>
          <p:nvPr/>
        </p:nvSpPr>
        <p:spPr>
          <a:xfrm>
            <a:off x="6949440" y="1938528"/>
            <a:ext cx="179222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2D0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🔑 CitizenID (PK)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6949440" y="2340864"/>
            <a:ext cx="179222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21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 CNICNumber (UNIQUE)</a:t>
            </a:r>
            <a:endParaRPr lang="en-US" sz="1050" dirty="0"/>
          </a:p>
        </p:txBody>
      </p:sp>
      <p:sp>
        <p:nvSpPr>
          <p:cNvPr id="38" name="Text 36"/>
          <p:cNvSpPr/>
          <p:nvPr/>
        </p:nvSpPr>
        <p:spPr>
          <a:xfrm>
            <a:off x="6949440" y="2743200"/>
            <a:ext cx="179222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A3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FullName</a:t>
            </a:r>
            <a:endParaRPr lang="en-US" sz="1050" dirty="0"/>
          </a:p>
        </p:txBody>
      </p:sp>
      <p:sp>
        <p:nvSpPr>
          <p:cNvPr id="39" name="Text 37"/>
          <p:cNvSpPr/>
          <p:nvPr/>
        </p:nvSpPr>
        <p:spPr>
          <a:xfrm>
            <a:off x="6949440" y="3145536"/>
            <a:ext cx="179222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A3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Gender</a:t>
            </a:r>
            <a:endParaRPr lang="en-US" sz="1050" dirty="0"/>
          </a:p>
        </p:txBody>
      </p:sp>
      <p:sp>
        <p:nvSpPr>
          <p:cNvPr id="40" name="Text 38"/>
          <p:cNvSpPr/>
          <p:nvPr/>
        </p:nvSpPr>
        <p:spPr>
          <a:xfrm>
            <a:off x="6949440" y="3547872"/>
            <a:ext cx="179222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A3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DOB / Age</a:t>
            </a:r>
            <a:endParaRPr lang="en-US" sz="1050" dirty="0"/>
          </a:p>
        </p:txBody>
      </p:sp>
      <p:sp>
        <p:nvSpPr>
          <p:cNvPr id="41" name="Text 39"/>
          <p:cNvSpPr/>
          <p:nvPr/>
        </p:nvSpPr>
        <p:spPr>
          <a:xfrm>
            <a:off x="6949440" y="3950208"/>
            <a:ext cx="179222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A3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Education</a:t>
            </a:r>
            <a:endParaRPr lang="en-US" sz="1050" dirty="0"/>
          </a:p>
        </p:txBody>
      </p:sp>
      <p:sp>
        <p:nvSpPr>
          <p:cNvPr id="42" name="Text 40"/>
          <p:cNvSpPr/>
          <p:nvPr/>
        </p:nvSpPr>
        <p:spPr>
          <a:xfrm>
            <a:off x="6949440" y="4352544"/>
            <a:ext cx="179222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A3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Occupation</a:t>
            </a:r>
            <a:endParaRPr lang="en-US" sz="1050" dirty="0"/>
          </a:p>
        </p:txBody>
      </p:sp>
      <p:sp>
        <p:nvSpPr>
          <p:cNvPr id="43" name="Text 41"/>
          <p:cNvSpPr/>
          <p:nvPr/>
        </p:nvSpPr>
        <p:spPr>
          <a:xfrm>
            <a:off x="6949440" y="4754880"/>
            <a:ext cx="179222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70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🔗 HouseholdID (FK)</a:t>
            </a:r>
            <a:endParaRPr lang="en-US" sz="1050" dirty="0"/>
          </a:p>
        </p:txBody>
      </p:sp>
      <p:sp>
        <p:nvSpPr>
          <p:cNvPr id="47" name="Text 45"/>
          <p:cNvSpPr/>
          <p:nvPr/>
        </p:nvSpPr>
        <p:spPr>
          <a:xfrm>
            <a:off x="4480560" y="4425696"/>
            <a:ext cx="21945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4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2D0660"/>
          </a:solidFill>
          <a:ln w="12700">
            <a:solidFill>
              <a:srgbClr val="2D066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046720" y="91440"/>
            <a:ext cx="274320" cy="274320"/>
          </a:xfrm>
          <a:prstGeom prst="ellipse">
            <a:avLst/>
          </a:prstGeom>
          <a:solidFill>
            <a:srgbClr val="FF7043">
              <a:alpha val="60000"/>
            </a:srgbClr>
          </a:solidFill>
          <a:ln w="12700">
            <a:solidFill>
              <a:srgbClr val="FF7043">
                <a:alpha val="6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412480" y="182880"/>
            <a:ext cx="182880" cy="182880"/>
          </a:xfrm>
          <a:prstGeom prst="ellipse">
            <a:avLst/>
          </a:prstGeom>
          <a:solidFill>
            <a:srgbClr val="FFAA80">
              <a:alpha val="60000"/>
            </a:srgbClr>
          </a:solidFill>
          <a:ln w="12700">
            <a:solidFill>
              <a:srgbClr val="FFAA80">
                <a:alpha val="6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84048" y="91440"/>
            <a:ext cx="8412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50" dirty="0">
                <a:solidFill>
                  <a:srgbClr val="FFA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 ·  FEATURES     AUTHENTICATION MODULE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384048" y="621792"/>
            <a:ext cx="84124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05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Signup · Login · Session · Password Hashing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384048" y="1234440"/>
            <a:ext cx="1005840" cy="50292"/>
          </a:xfrm>
          <a:prstGeom prst="rect">
            <a:avLst/>
          </a:prstGeom>
          <a:solidFill>
            <a:srgbClr val="FF7043"/>
          </a:solidFill>
          <a:ln w="12700">
            <a:solidFill>
              <a:srgbClr val="FF7043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7472" y="1389888"/>
            <a:ext cx="3840480" cy="585216"/>
          </a:xfrm>
          <a:prstGeom prst="roundRect">
            <a:avLst>
              <a:gd name="adj" fmla="val 18750"/>
            </a:avLst>
          </a:prstGeom>
          <a:solidFill>
            <a:srgbClr val="EDE0FF"/>
          </a:solidFill>
          <a:ln w="12700">
            <a:solidFill>
              <a:srgbClr val="E0D0F8"/>
            </a:solidFill>
            <a:prstDash val="solid"/>
          </a:ln>
          <a:effectLst>
            <a:outerShdw blurRad="177800" dist="508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38912" y="1499616"/>
            <a:ext cx="365760" cy="365760"/>
          </a:xfrm>
          <a:prstGeom prst="ellipse">
            <a:avLst/>
          </a:prstGeom>
          <a:solidFill>
            <a:srgbClr val="6B21C8"/>
          </a:solidFill>
          <a:ln w="12700">
            <a:solidFill>
              <a:srgbClr val="6B21C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38912" y="149961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896112" y="1444752"/>
            <a:ext cx="316382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D066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User fills Signup form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896112" y="1719072"/>
            <a:ext cx="316382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A3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name, email, password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75488" y="2029968"/>
            <a:ext cx="2926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F7043"/>
                </a:solidFill>
              </a:rPr>
              <a:t>↓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347472" y="2084832"/>
            <a:ext cx="3840480" cy="585216"/>
          </a:xfrm>
          <a:prstGeom prst="roundRect">
            <a:avLst>
              <a:gd name="adj" fmla="val 18750"/>
            </a:avLst>
          </a:prstGeom>
          <a:solidFill>
            <a:srgbClr val="FFFFFF"/>
          </a:solidFill>
          <a:ln w="12700">
            <a:solidFill>
              <a:srgbClr val="E0D0F8"/>
            </a:solidFill>
            <a:prstDash val="solid"/>
          </a:ln>
          <a:effectLst>
            <a:outerShdw blurRad="177800" dist="508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38912" y="2194560"/>
            <a:ext cx="365760" cy="365760"/>
          </a:xfrm>
          <a:prstGeom prst="ellipse">
            <a:avLst/>
          </a:prstGeom>
          <a:solidFill>
            <a:srgbClr val="6B21C8"/>
          </a:solidFill>
          <a:ln w="12700">
            <a:solidFill>
              <a:srgbClr val="6B21C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38912" y="21945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896112" y="2139696"/>
            <a:ext cx="316382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D066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Validation runs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896112" y="2414016"/>
            <a:ext cx="316382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A3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regex · password length · no empty fields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75488" y="2724912"/>
            <a:ext cx="2926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F7043"/>
                </a:solidFill>
              </a:rPr>
              <a:t>↓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347472" y="2779776"/>
            <a:ext cx="3840480" cy="585216"/>
          </a:xfrm>
          <a:prstGeom prst="roundRect">
            <a:avLst>
              <a:gd name="adj" fmla="val 18750"/>
            </a:avLst>
          </a:prstGeom>
          <a:solidFill>
            <a:srgbClr val="EDE0FF"/>
          </a:solidFill>
          <a:ln w="12700">
            <a:solidFill>
              <a:srgbClr val="E0D0F8"/>
            </a:solidFill>
            <a:prstDash val="solid"/>
          </a:ln>
          <a:effectLst>
            <a:outerShdw blurRad="177800" dist="508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38912" y="2889504"/>
            <a:ext cx="365760" cy="365760"/>
          </a:xfrm>
          <a:prstGeom prst="ellipse">
            <a:avLst/>
          </a:prstGeom>
          <a:solidFill>
            <a:srgbClr val="6B21C8"/>
          </a:solidFill>
          <a:ln w="12700">
            <a:solidFill>
              <a:srgbClr val="6B21C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38912" y="288950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896112" y="2834640"/>
            <a:ext cx="316382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D066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Duplicate email check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896112" y="3108960"/>
            <a:ext cx="316382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A3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query before INSERT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475488" y="3419856"/>
            <a:ext cx="2926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F7043"/>
                </a:solidFill>
              </a:rPr>
              <a:t>↓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347472" y="3474720"/>
            <a:ext cx="3840480" cy="585216"/>
          </a:xfrm>
          <a:prstGeom prst="roundRect">
            <a:avLst>
              <a:gd name="adj" fmla="val 18750"/>
            </a:avLst>
          </a:prstGeom>
          <a:solidFill>
            <a:srgbClr val="FFFFFF"/>
          </a:solidFill>
          <a:ln w="12700">
            <a:solidFill>
              <a:srgbClr val="E0D0F8"/>
            </a:solidFill>
            <a:prstDash val="solid"/>
          </a:ln>
          <a:effectLst>
            <a:outerShdw blurRad="177800" dist="508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438912" y="3584448"/>
            <a:ext cx="365760" cy="365760"/>
          </a:xfrm>
          <a:prstGeom prst="ellipse">
            <a:avLst/>
          </a:prstGeom>
          <a:solidFill>
            <a:srgbClr val="6B21C8"/>
          </a:solidFill>
          <a:ln w="12700">
            <a:solidFill>
              <a:srgbClr val="6B21C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38912" y="358444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896112" y="3529584"/>
            <a:ext cx="316382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D066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SHA-256 hash generated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896112" y="3803904"/>
            <a:ext cx="316382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A3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System.Security.Cryptography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475488" y="4114800"/>
            <a:ext cx="2926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F7043"/>
                </a:solidFill>
              </a:rPr>
              <a:t>↓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347472" y="4169664"/>
            <a:ext cx="3840480" cy="585216"/>
          </a:xfrm>
          <a:prstGeom prst="roundRect">
            <a:avLst>
              <a:gd name="adj" fmla="val 18750"/>
            </a:avLst>
          </a:prstGeom>
          <a:solidFill>
            <a:srgbClr val="EDE0FF"/>
          </a:solidFill>
          <a:ln w="12700">
            <a:solidFill>
              <a:srgbClr val="E0D0F8"/>
            </a:solidFill>
            <a:prstDash val="solid"/>
          </a:ln>
          <a:effectLst>
            <a:outerShdw blurRad="177800" dist="508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438912" y="4279392"/>
            <a:ext cx="365760" cy="365760"/>
          </a:xfrm>
          <a:prstGeom prst="ellipse">
            <a:avLst/>
          </a:prstGeom>
          <a:solidFill>
            <a:srgbClr val="6B21C8"/>
          </a:solidFill>
          <a:ln w="12700">
            <a:solidFill>
              <a:srgbClr val="6B21C8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38912" y="427939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896112" y="4224528"/>
            <a:ext cx="316382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D066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Hash stored in Users table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896112" y="4498848"/>
            <a:ext cx="316382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A3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Plain text never touches the database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4370832" y="1389888"/>
            <a:ext cx="4425696" cy="3493008"/>
          </a:xfrm>
          <a:prstGeom prst="roundRect">
            <a:avLst>
              <a:gd name="adj" fmla="val 3665"/>
            </a:avLst>
          </a:prstGeom>
          <a:solidFill>
            <a:srgbClr val="1A0040"/>
          </a:solidFill>
          <a:ln w="12700">
            <a:solidFill>
              <a:srgbClr val="6B21C8">
                <a:alpha val="50000"/>
              </a:srgbClr>
            </a:solidFill>
            <a:prstDash val="solid"/>
          </a:ln>
          <a:effectLst>
            <a:outerShdw blurRad="177800" dist="50800" dir="2700000" algn="bl" rotWithShape="0">
              <a:srgbClr val="000000">
                <a:alpha val="20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4370832" y="1389888"/>
            <a:ext cx="4425696" cy="365760"/>
          </a:xfrm>
          <a:prstGeom prst="roundRect">
            <a:avLst>
              <a:gd name="adj" fmla="val 35000"/>
            </a:avLst>
          </a:prstGeom>
          <a:solidFill>
            <a:srgbClr val="2D0660"/>
          </a:solidFill>
          <a:ln w="12700">
            <a:solidFill>
              <a:srgbClr val="2D066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462272" y="1389888"/>
            <a:ext cx="424281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A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PasswordHelper.cs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4498848" y="1847088"/>
            <a:ext cx="416966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AA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 static string Hash(string plain)</a:t>
            </a:r>
            <a:endParaRPr lang="en-US" sz="1050" dirty="0"/>
          </a:p>
        </p:txBody>
      </p:sp>
      <p:sp>
        <p:nvSpPr>
          <p:cNvPr id="41" name="Text 39"/>
          <p:cNvSpPr/>
          <p:nvPr/>
        </p:nvSpPr>
        <p:spPr>
          <a:xfrm>
            <a:off x="4498848" y="2112264"/>
            <a:ext cx="416966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050" dirty="0"/>
          </a:p>
        </p:txBody>
      </p:sp>
      <p:sp>
        <p:nvSpPr>
          <p:cNvPr id="42" name="Text 40"/>
          <p:cNvSpPr/>
          <p:nvPr/>
        </p:nvSpPr>
        <p:spPr>
          <a:xfrm>
            <a:off x="4498848" y="2377440"/>
            <a:ext cx="416966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8DE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using (var sha = SHA256.Create())</a:t>
            </a:r>
            <a:endParaRPr lang="en-US" sz="1050" dirty="0"/>
          </a:p>
        </p:txBody>
      </p:sp>
      <p:sp>
        <p:nvSpPr>
          <p:cNvPr id="43" name="Text 41"/>
          <p:cNvSpPr/>
          <p:nvPr/>
        </p:nvSpPr>
        <p:spPr>
          <a:xfrm>
            <a:off x="4498848" y="2642616"/>
            <a:ext cx="416966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{</a:t>
            </a:r>
            <a:endParaRPr lang="en-US" sz="1050" dirty="0"/>
          </a:p>
        </p:txBody>
      </p:sp>
      <p:sp>
        <p:nvSpPr>
          <p:cNvPr id="44" name="Text 42"/>
          <p:cNvSpPr/>
          <p:nvPr/>
        </p:nvSpPr>
        <p:spPr>
          <a:xfrm>
            <a:off x="4498848" y="2907792"/>
            <a:ext cx="416966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8DE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byte[] bytes = sha.ComputeHash(</a:t>
            </a:r>
            <a:endParaRPr lang="en-US" sz="1050" dirty="0"/>
          </a:p>
        </p:txBody>
      </p:sp>
      <p:sp>
        <p:nvSpPr>
          <p:cNvPr id="45" name="Text 43"/>
          <p:cNvSpPr/>
          <p:nvPr/>
        </p:nvSpPr>
        <p:spPr>
          <a:xfrm>
            <a:off x="4498848" y="3172968"/>
            <a:ext cx="416966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8DE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Encoding.UTF8.GetBytes(plain));</a:t>
            </a:r>
            <a:endParaRPr lang="en-US" sz="1050" dirty="0"/>
          </a:p>
        </p:txBody>
      </p:sp>
      <p:sp>
        <p:nvSpPr>
          <p:cNvPr id="46" name="Text 44"/>
          <p:cNvSpPr/>
          <p:nvPr/>
        </p:nvSpPr>
        <p:spPr>
          <a:xfrm>
            <a:off x="4498848" y="3438144"/>
            <a:ext cx="416966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8DE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var sb = new StringBuilder();</a:t>
            </a:r>
            <a:endParaRPr lang="en-US" sz="1050" dirty="0"/>
          </a:p>
        </p:txBody>
      </p:sp>
      <p:sp>
        <p:nvSpPr>
          <p:cNvPr id="47" name="Text 45"/>
          <p:cNvSpPr/>
          <p:nvPr/>
        </p:nvSpPr>
        <p:spPr>
          <a:xfrm>
            <a:off x="4498848" y="3703320"/>
            <a:ext cx="416966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8DE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foreach (var b in bytes)</a:t>
            </a:r>
            <a:endParaRPr lang="en-US" sz="1050" dirty="0"/>
          </a:p>
        </p:txBody>
      </p:sp>
      <p:sp>
        <p:nvSpPr>
          <p:cNvPr id="48" name="Text 46"/>
          <p:cNvSpPr/>
          <p:nvPr/>
        </p:nvSpPr>
        <p:spPr>
          <a:xfrm>
            <a:off x="4498848" y="3968496"/>
            <a:ext cx="416966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8DE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sb.Append(b.ToString("x2"));</a:t>
            </a:r>
            <a:endParaRPr lang="en-US" sz="1050" dirty="0"/>
          </a:p>
        </p:txBody>
      </p:sp>
      <p:sp>
        <p:nvSpPr>
          <p:cNvPr id="49" name="Text 47"/>
          <p:cNvSpPr/>
          <p:nvPr/>
        </p:nvSpPr>
        <p:spPr>
          <a:xfrm>
            <a:off x="4498848" y="4233672"/>
            <a:ext cx="416966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AA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sb.ToString();</a:t>
            </a:r>
            <a:endParaRPr lang="en-US" sz="1050" dirty="0"/>
          </a:p>
        </p:txBody>
      </p:sp>
      <p:sp>
        <p:nvSpPr>
          <p:cNvPr id="50" name="Text 48"/>
          <p:cNvSpPr/>
          <p:nvPr/>
        </p:nvSpPr>
        <p:spPr>
          <a:xfrm>
            <a:off x="4498848" y="4498848"/>
            <a:ext cx="416966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</a:t>
            </a:r>
            <a:endParaRPr lang="en-US" sz="1050" dirty="0"/>
          </a:p>
        </p:txBody>
      </p:sp>
      <p:sp>
        <p:nvSpPr>
          <p:cNvPr id="51" name="Text 49"/>
          <p:cNvSpPr/>
          <p:nvPr/>
        </p:nvSpPr>
        <p:spPr>
          <a:xfrm>
            <a:off x="4498848" y="4764024"/>
            <a:ext cx="416966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4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2D0660"/>
          </a:solidFill>
          <a:ln w="12700">
            <a:solidFill>
              <a:srgbClr val="2D066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046720" y="91440"/>
            <a:ext cx="274320" cy="274320"/>
          </a:xfrm>
          <a:prstGeom prst="ellipse">
            <a:avLst/>
          </a:prstGeom>
          <a:solidFill>
            <a:srgbClr val="FF7043">
              <a:alpha val="60000"/>
            </a:srgbClr>
          </a:solidFill>
          <a:ln w="12700">
            <a:solidFill>
              <a:srgbClr val="FF7043">
                <a:alpha val="6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412480" y="182880"/>
            <a:ext cx="182880" cy="182880"/>
          </a:xfrm>
          <a:prstGeom prst="ellipse">
            <a:avLst/>
          </a:prstGeom>
          <a:solidFill>
            <a:srgbClr val="FFAA80">
              <a:alpha val="60000"/>
            </a:srgbClr>
          </a:solidFill>
          <a:ln w="12700">
            <a:solidFill>
              <a:srgbClr val="FFAA80">
                <a:alpha val="6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84048" y="91440"/>
            <a:ext cx="8412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50" dirty="0">
                <a:solidFill>
                  <a:srgbClr val="FFA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 ·  FEATURES     DASHBOARD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384048" y="621792"/>
            <a:ext cx="84124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05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Live statistics   always up to date after every action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384048" y="1234440"/>
            <a:ext cx="1005840" cy="50292"/>
          </a:xfrm>
          <a:prstGeom prst="rect">
            <a:avLst/>
          </a:prstGeom>
          <a:solidFill>
            <a:srgbClr val="FF7043"/>
          </a:solidFill>
          <a:ln w="12700">
            <a:solidFill>
              <a:srgbClr val="FF7043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92608" y="1389888"/>
            <a:ext cx="2066544" cy="1444752"/>
          </a:xfrm>
          <a:prstGeom prst="roundRect">
            <a:avLst>
              <a:gd name="adj" fmla="val 8861"/>
            </a:avLst>
          </a:prstGeom>
          <a:solidFill>
            <a:srgbClr val="2D0660"/>
          </a:solidFill>
          <a:ln w="12700">
            <a:solidFill>
              <a:srgbClr val="2D0660"/>
            </a:solidFill>
            <a:prstDash val="solid"/>
          </a:ln>
          <a:effectLst>
            <a:outerShdw blurRad="177800" dist="50800" dir="2700000" algn="bl" rotWithShape="0">
              <a:srgbClr val="000000">
                <a:alpha val="20000"/>
              </a:srgbClr>
            </a:outerShdw>
          </a:effectLst>
        </p:spPr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8912" y="1481328"/>
            <a:ext cx="585216" cy="585216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384048" y="2084832"/>
            <a:ext cx="188366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247</a:t>
            </a:r>
            <a:endParaRPr lang="en-US" sz="3200" dirty="0"/>
          </a:p>
        </p:txBody>
      </p:sp>
      <p:sp>
        <p:nvSpPr>
          <p:cNvPr id="11" name="Text 8"/>
          <p:cNvSpPr/>
          <p:nvPr/>
        </p:nvSpPr>
        <p:spPr>
          <a:xfrm>
            <a:off x="384048" y="2615184"/>
            <a:ext cx="188366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CC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Households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2487168" y="1389888"/>
            <a:ext cx="2066544" cy="1444752"/>
          </a:xfrm>
          <a:prstGeom prst="roundRect">
            <a:avLst>
              <a:gd name="adj" fmla="val 8861"/>
            </a:avLst>
          </a:prstGeom>
          <a:solidFill>
            <a:srgbClr val="6B21C8"/>
          </a:solidFill>
          <a:ln w="12700">
            <a:solidFill>
              <a:srgbClr val="6B21C8"/>
            </a:solidFill>
            <a:prstDash val="solid"/>
          </a:ln>
          <a:effectLst>
            <a:outerShdw blurRad="177800" dist="50800" dir="2700000" algn="bl" rotWithShape="0">
              <a:srgbClr val="000000">
                <a:alpha val="20000"/>
              </a:srgbClr>
            </a:outerShdw>
          </a:effectLst>
        </p:spPr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33472" y="1481328"/>
            <a:ext cx="585216" cy="585216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2578608" y="2084832"/>
            <a:ext cx="188366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1,438</a:t>
            </a:r>
            <a:endParaRPr lang="en-US" sz="3200" dirty="0"/>
          </a:p>
        </p:txBody>
      </p:sp>
      <p:sp>
        <p:nvSpPr>
          <p:cNvPr id="15" name="Text 11"/>
          <p:cNvSpPr/>
          <p:nvPr/>
        </p:nvSpPr>
        <p:spPr>
          <a:xfrm>
            <a:off x="2578608" y="2615184"/>
            <a:ext cx="188366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CC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Population</a:t>
            </a:r>
            <a:endParaRPr lang="en-US" sz="1000" dirty="0"/>
          </a:p>
        </p:txBody>
      </p:sp>
      <p:sp>
        <p:nvSpPr>
          <p:cNvPr id="16" name="Shape 12"/>
          <p:cNvSpPr/>
          <p:nvPr/>
        </p:nvSpPr>
        <p:spPr>
          <a:xfrm>
            <a:off x="4681728" y="1389888"/>
            <a:ext cx="2066544" cy="1444752"/>
          </a:xfrm>
          <a:prstGeom prst="roundRect">
            <a:avLst>
              <a:gd name="adj" fmla="val 8861"/>
            </a:avLst>
          </a:prstGeom>
          <a:solidFill>
            <a:srgbClr val="FF7043"/>
          </a:solidFill>
          <a:ln w="12700">
            <a:solidFill>
              <a:srgbClr val="FF7043"/>
            </a:solidFill>
            <a:prstDash val="solid"/>
          </a:ln>
          <a:effectLst>
            <a:outerShdw blurRad="177800" dist="50800" dir="2700000" algn="bl" rotWithShape="0">
              <a:srgbClr val="000000">
                <a:alpha val="20000"/>
              </a:srgbClr>
            </a:outerShdw>
          </a:effectLst>
        </p:spPr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28032" y="1481328"/>
            <a:ext cx="585216" cy="585216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4773168" y="2084832"/>
            <a:ext cx="188366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742</a:t>
            </a:r>
            <a:endParaRPr lang="en-US" sz="3200" dirty="0"/>
          </a:p>
        </p:txBody>
      </p:sp>
      <p:sp>
        <p:nvSpPr>
          <p:cNvPr id="19" name="Text 14"/>
          <p:cNvSpPr/>
          <p:nvPr/>
        </p:nvSpPr>
        <p:spPr>
          <a:xfrm>
            <a:off x="4773168" y="2615184"/>
            <a:ext cx="188366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CC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Male Population</a:t>
            </a:r>
            <a:endParaRPr lang="en-US" sz="1000" dirty="0"/>
          </a:p>
        </p:txBody>
      </p:sp>
      <p:sp>
        <p:nvSpPr>
          <p:cNvPr id="20" name="Shape 15"/>
          <p:cNvSpPr/>
          <p:nvPr/>
        </p:nvSpPr>
        <p:spPr>
          <a:xfrm>
            <a:off x="6876288" y="1389888"/>
            <a:ext cx="2066544" cy="1444752"/>
          </a:xfrm>
          <a:prstGeom prst="roundRect">
            <a:avLst>
              <a:gd name="adj" fmla="val 8861"/>
            </a:avLst>
          </a:prstGeom>
          <a:solidFill>
            <a:srgbClr val="7B2D8B"/>
          </a:solidFill>
          <a:ln w="12700">
            <a:solidFill>
              <a:srgbClr val="7B2D8B"/>
            </a:solidFill>
            <a:prstDash val="solid"/>
          </a:ln>
          <a:effectLst>
            <a:outerShdw blurRad="177800" dist="50800" dir="2700000" algn="bl" rotWithShape="0">
              <a:srgbClr val="000000">
                <a:alpha val="20000"/>
              </a:srgbClr>
            </a:outerShdw>
          </a:effectLst>
        </p:spPr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022592" y="1481328"/>
            <a:ext cx="585216" cy="585216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6967728" y="2084832"/>
            <a:ext cx="188366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696</a:t>
            </a:r>
            <a:endParaRPr lang="en-US" sz="3200" dirty="0"/>
          </a:p>
        </p:txBody>
      </p:sp>
      <p:sp>
        <p:nvSpPr>
          <p:cNvPr id="23" name="Text 17"/>
          <p:cNvSpPr/>
          <p:nvPr/>
        </p:nvSpPr>
        <p:spPr>
          <a:xfrm>
            <a:off x="6967728" y="2615184"/>
            <a:ext cx="188366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CC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Female Population</a:t>
            </a:r>
            <a:endParaRPr lang="en-US" sz="1000" dirty="0"/>
          </a:p>
        </p:txBody>
      </p:sp>
      <p:sp>
        <p:nvSpPr>
          <p:cNvPr id="24" name="Text 18"/>
          <p:cNvSpPr/>
          <p:nvPr/>
        </p:nvSpPr>
        <p:spPr>
          <a:xfrm>
            <a:off x="384048" y="2999232"/>
            <a:ext cx="837590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D066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 Management Buttons</a:t>
            </a:r>
            <a:endParaRPr lang="en-US" sz="1500" dirty="0"/>
          </a:p>
        </p:txBody>
      </p:sp>
      <p:sp>
        <p:nvSpPr>
          <p:cNvPr id="25" name="Shape 19"/>
          <p:cNvSpPr/>
          <p:nvPr/>
        </p:nvSpPr>
        <p:spPr>
          <a:xfrm>
            <a:off x="292608" y="3383280"/>
            <a:ext cx="2066544" cy="1261872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2700">
            <a:solidFill>
              <a:srgbClr val="E0D0F8"/>
            </a:solidFill>
            <a:prstDash val="solid"/>
          </a:ln>
          <a:effectLst>
            <a:outerShdw blurRad="177800" dist="508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6" name="Shape 20"/>
          <p:cNvSpPr/>
          <p:nvPr/>
        </p:nvSpPr>
        <p:spPr>
          <a:xfrm>
            <a:off x="987552" y="3493008"/>
            <a:ext cx="658368" cy="658368"/>
          </a:xfrm>
          <a:prstGeom prst="ellipse">
            <a:avLst/>
          </a:prstGeom>
          <a:solidFill>
            <a:srgbClr val="EDE0FF"/>
          </a:solidFill>
          <a:ln w="12700">
            <a:solidFill>
              <a:srgbClr val="EDE0FF"/>
            </a:solidFill>
            <a:prstDash val="solid"/>
          </a:ln>
        </p:spPr>
      </p:sp>
      <p:pic>
        <p:nvPicPr>
          <p:cNvPr id="27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60704" y="3566160"/>
            <a:ext cx="512064" cy="512064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365760" y="4206240"/>
            <a:ext cx="1920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2D066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Area Management</a:t>
            </a:r>
            <a:endParaRPr lang="en-US" sz="1050" dirty="0"/>
          </a:p>
        </p:txBody>
      </p:sp>
      <p:sp>
        <p:nvSpPr>
          <p:cNvPr id="29" name="Shape 22"/>
          <p:cNvSpPr/>
          <p:nvPr/>
        </p:nvSpPr>
        <p:spPr>
          <a:xfrm>
            <a:off x="2487168" y="3383280"/>
            <a:ext cx="2066544" cy="1261872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2700">
            <a:solidFill>
              <a:srgbClr val="E0D0F8"/>
            </a:solidFill>
            <a:prstDash val="solid"/>
          </a:ln>
          <a:effectLst>
            <a:outerShdw blurRad="177800" dist="508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0" name="Shape 23"/>
          <p:cNvSpPr/>
          <p:nvPr/>
        </p:nvSpPr>
        <p:spPr>
          <a:xfrm>
            <a:off x="3182112" y="3493008"/>
            <a:ext cx="658368" cy="658368"/>
          </a:xfrm>
          <a:prstGeom prst="ellipse">
            <a:avLst/>
          </a:prstGeom>
          <a:solidFill>
            <a:srgbClr val="EDE0FF"/>
          </a:solidFill>
          <a:ln w="12700">
            <a:solidFill>
              <a:srgbClr val="EDE0FF"/>
            </a:solidFill>
            <a:prstDash val="solid"/>
          </a:ln>
        </p:spPr>
      </p:sp>
      <p:pic>
        <p:nvPicPr>
          <p:cNvPr id="31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255264" y="3566160"/>
            <a:ext cx="512064" cy="512064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2560320" y="4206240"/>
            <a:ext cx="1920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6B21C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Household Management</a:t>
            </a:r>
            <a:endParaRPr lang="en-US" sz="1050" dirty="0"/>
          </a:p>
        </p:txBody>
      </p:sp>
      <p:sp>
        <p:nvSpPr>
          <p:cNvPr id="33" name="Shape 25"/>
          <p:cNvSpPr/>
          <p:nvPr/>
        </p:nvSpPr>
        <p:spPr>
          <a:xfrm>
            <a:off x="4681728" y="3383280"/>
            <a:ext cx="2066544" cy="1261872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2700">
            <a:solidFill>
              <a:srgbClr val="E0D0F8"/>
            </a:solidFill>
            <a:prstDash val="solid"/>
          </a:ln>
          <a:effectLst>
            <a:outerShdw blurRad="177800" dist="508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4" name="Shape 26"/>
          <p:cNvSpPr/>
          <p:nvPr/>
        </p:nvSpPr>
        <p:spPr>
          <a:xfrm>
            <a:off x="5376672" y="3493008"/>
            <a:ext cx="658368" cy="658368"/>
          </a:xfrm>
          <a:prstGeom prst="ellipse">
            <a:avLst/>
          </a:prstGeom>
          <a:solidFill>
            <a:srgbClr val="EDE0FF"/>
          </a:solidFill>
          <a:ln w="12700">
            <a:solidFill>
              <a:srgbClr val="EDE0FF"/>
            </a:solidFill>
            <a:prstDash val="solid"/>
          </a:ln>
        </p:spPr>
      </p:sp>
      <p:pic>
        <p:nvPicPr>
          <p:cNvPr id="35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449824" y="3566160"/>
            <a:ext cx="512064" cy="512064"/>
          </a:xfrm>
          <a:prstGeom prst="rect">
            <a:avLst/>
          </a:prstGeom>
        </p:spPr>
      </p:pic>
      <p:sp>
        <p:nvSpPr>
          <p:cNvPr id="36" name="Text 27"/>
          <p:cNvSpPr/>
          <p:nvPr/>
        </p:nvSpPr>
        <p:spPr>
          <a:xfrm>
            <a:off x="4754880" y="4206240"/>
            <a:ext cx="1920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70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Citizen Management</a:t>
            </a:r>
            <a:endParaRPr lang="en-US" sz="1050" dirty="0"/>
          </a:p>
        </p:txBody>
      </p:sp>
      <p:sp>
        <p:nvSpPr>
          <p:cNvPr id="37" name="Shape 28"/>
          <p:cNvSpPr/>
          <p:nvPr/>
        </p:nvSpPr>
        <p:spPr>
          <a:xfrm>
            <a:off x="6876288" y="3383280"/>
            <a:ext cx="2066544" cy="1261872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2700">
            <a:solidFill>
              <a:srgbClr val="E0D0F8"/>
            </a:solidFill>
            <a:prstDash val="solid"/>
          </a:ln>
          <a:effectLst>
            <a:outerShdw blurRad="177800" dist="508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8" name="Shape 29"/>
          <p:cNvSpPr/>
          <p:nvPr/>
        </p:nvSpPr>
        <p:spPr>
          <a:xfrm>
            <a:off x="7571232" y="3493008"/>
            <a:ext cx="658368" cy="658368"/>
          </a:xfrm>
          <a:prstGeom prst="ellipse">
            <a:avLst/>
          </a:prstGeom>
          <a:solidFill>
            <a:srgbClr val="EDE0FF"/>
          </a:solidFill>
          <a:ln w="12700">
            <a:solidFill>
              <a:srgbClr val="EDE0FF"/>
            </a:solidFill>
            <a:prstDash val="solid"/>
          </a:ln>
        </p:spPr>
      </p:sp>
      <p:pic>
        <p:nvPicPr>
          <p:cNvPr id="39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644384" y="3566160"/>
            <a:ext cx="512064" cy="512064"/>
          </a:xfrm>
          <a:prstGeom prst="rect">
            <a:avLst/>
          </a:prstGeom>
        </p:spPr>
      </p:pic>
      <p:sp>
        <p:nvSpPr>
          <p:cNvPr id="40" name="Text 30"/>
          <p:cNvSpPr/>
          <p:nvPr/>
        </p:nvSpPr>
        <p:spPr>
          <a:xfrm>
            <a:off x="6949440" y="4206240"/>
            <a:ext cx="1920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7B2D8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Add New Citizen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4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2D0660"/>
          </a:solidFill>
          <a:ln w="12700">
            <a:solidFill>
              <a:srgbClr val="2D066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046720" y="91440"/>
            <a:ext cx="274320" cy="274320"/>
          </a:xfrm>
          <a:prstGeom prst="ellipse">
            <a:avLst/>
          </a:prstGeom>
          <a:solidFill>
            <a:srgbClr val="FF7043">
              <a:alpha val="60000"/>
            </a:srgbClr>
          </a:solidFill>
          <a:ln w="12700">
            <a:solidFill>
              <a:srgbClr val="FF7043">
                <a:alpha val="6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412480" y="182880"/>
            <a:ext cx="182880" cy="182880"/>
          </a:xfrm>
          <a:prstGeom prst="ellipse">
            <a:avLst/>
          </a:prstGeom>
          <a:solidFill>
            <a:srgbClr val="FFAA80">
              <a:alpha val="60000"/>
            </a:srgbClr>
          </a:solidFill>
          <a:ln w="12700">
            <a:solidFill>
              <a:srgbClr val="FFAA80">
                <a:alpha val="6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84048" y="91440"/>
            <a:ext cx="8412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50" dirty="0">
                <a:solidFill>
                  <a:srgbClr val="FFA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 ·  FEATURES     CRUD OPERATIONS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384048" y="621792"/>
            <a:ext cx="84124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05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Every module supports full Create · Read · Update · Delete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384048" y="1234440"/>
            <a:ext cx="1005840" cy="50292"/>
          </a:xfrm>
          <a:prstGeom prst="rect">
            <a:avLst/>
          </a:prstGeom>
          <a:solidFill>
            <a:srgbClr val="FF7043"/>
          </a:solidFill>
          <a:ln w="12700">
            <a:solidFill>
              <a:srgbClr val="FF7043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92608" y="1389888"/>
            <a:ext cx="2066544" cy="530352"/>
          </a:xfrm>
          <a:prstGeom prst="roundRect">
            <a:avLst>
              <a:gd name="adj" fmla="val 17241"/>
            </a:avLst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481328"/>
            <a:ext cx="347472" cy="347472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859536" y="1389888"/>
            <a:ext cx="1389888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CREATE</a:t>
            </a:r>
            <a:endParaRPr lang="en-US" sz="1800" dirty="0"/>
          </a:p>
        </p:txBody>
      </p:sp>
      <p:sp>
        <p:nvSpPr>
          <p:cNvPr id="11" name="Shape 8"/>
          <p:cNvSpPr/>
          <p:nvPr/>
        </p:nvSpPr>
        <p:spPr>
          <a:xfrm>
            <a:off x="292608" y="1956816"/>
            <a:ext cx="2066544" cy="2560320"/>
          </a:xfrm>
          <a:prstGeom prst="roundRect">
            <a:avLst>
              <a:gd name="adj" fmla="val 5310"/>
            </a:avLst>
          </a:prstGeom>
          <a:solidFill>
            <a:srgbClr val="FFFFFF"/>
          </a:solidFill>
          <a:ln w="12700">
            <a:solidFill>
              <a:srgbClr val="E0D0F8"/>
            </a:solidFill>
            <a:prstDash val="solid"/>
          </a:ln>
          <a:effectLst>
            <a:outerShdw blurRad="177800" dist="508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438912" y="2084832"/>
            <a:ext cx="1773936" cy="23042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A3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"Add" after filling the form.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5A3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validated before SQL INSERT fires.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5A3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Success message confirms the save.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2487168" y="1389888"/>
            <a:ext cx="2066544" cy="530352"/>
          </a:xfrm>
          <a:prstGeom prst="roundRect">
            <a:avLst>
              <a:gd name="adj" fmla="val 17241"/>
            </a:avLst>
          </a:prstGeom>
          <a:solidFill>
            <a:srgbClr val="6B21C8"/>
          </a:solidFill>
          <a:ln w="12700">
            <a:solidFill>
              <a:srgbClr val="6B21C8"/>
            </a:solidFill>
            <a:prstDash val="solid"/>
          </a:ln>
        </p:spPr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51760" y="1481328"/>
            <a:ext cx="347472" cy="347472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3054096" y="1389888"/>
            <a:ext cx="1389888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READ</a:t>
            </a:r>
            <a:endParaRPr lang="en-US" sz="1800" dirty="0"/>
          </a:p>
        </p:txBody>
      </p:sp>
      <p:sp>
        <p:nvSpPr>
          <p:cNvPr id="16" name="Shape 12"/>
          <p:cNvSpPr/>
          <p:nvPr/>
        </p:nvSpPr>
        <p:spPr>
          <a:xfrm>
            <a:off x="2487168" y="1956816"/>
            <a:ext cx="2066544" cy="2560320"/>
          </a:xfrm>
          <a:prstGeom prst="roundRect">
            <a:avLst>
              <a:gd name="adj" fmla="val 5310"/>
            </a:avLst>
          </a:prstGeom>
          <a:solidFill>
            <a:srgbClr val="FFFFFF"/>
          </a:solidFill>
          <a:ln w="12700">
            <a:solidFill>
              <a:srgbClr val="E0D0F8"/>
            </a:solidFill>
            <a:prstDash val="solid"/>
          </a:ln>
          <a:effectLst>
            <a:outerShdw blurRad="177800" dist="508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7" name="Text 13"/>
          <p:cNvSpPr/>
          <p:nvPr/>
        </p:nvSpPr>
        <p:spPr>
          <a:xfrm>
            <a:off x="2633472" y="2084832"/>
            <a:ext cx="1773936" cy="23042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A3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DataGrid auto-loads on window open.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5A3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bar filters live as you type.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5A3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Sort any column by clicking its header.</a:t>
            </a:r>
            <a:endParaRPr lang="en-US" sz="1150" dirty="0"/>
          </a:p>
        </p:txBody>
      </p:sp>
      <p:sp>
        <p:nvSpPr>
          <p:cNvPr id="18" name="Shape 14"/>
          <p:cNvSpPr/>
          <p:nvPr/>
        </p:nvSpPr>
        <p:spPr>
          <a:xfrm>
            <a:off x="4681728" y="1389888"/>
            <a:ext cx="2066544" cy="530352"/>
          </a:xfrm>
          <a:prstGeom prst="roundRect">
            <a:avLst>
              <a:gd name="adj" fmla="val 17241"/>
            </a:avLst>
          </a:prstGeom>
          <a:solidFill>
            <a:srgbClr val="FF7043"/>
          </a:solidFill>
          <a:ln w="12700">
            <a:solidFill>
              <a:srgbClr val="FF7043"/>
            </a:solidFill>
            <a:prstDash val="solid"/>
          </a:ln>
        </p:spPr>
      </p:sp>
      <p:pic>
        <p:nvPicPr>
          <p:cNvPr id="1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46320" y="1481328"/>
            <a:ext cx="347472" cy="347472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5248656" y="1389888"/>
            <a:ext cx="1389888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UPDATE</a:t>
            </a:r>
            <a:endParaRPr lang="en-US" sz="1800" dirty="0"/>
          </a:p>
        </p:txBody>
      </p:sp>
      <p:sp>
        <p:nvSpPr>
          <p:cNvPr id="21" name="Shape 16"/>
          <p:cNvSpPr/>
          <p:nvPr/>
        </p:nvSpPr>
        <p:spPr>
          <a:xfrm>
            <a:off x="4681728" y="1956816"/>
            <a:ext cx="2066544" cy="2560320"/>
          </a:xfrm>
          <a:prstGeom prst="roundRect">
            <a:avLst>
              <a:gd name="adj" fmla="val 5310"/>
            </a:avLst>
          </a:prstGeom>
          <a:solidFill>
            <a:srgbClr val="FFFFFF"/>
          </a:solidFill>
          <a:ln w="12700">
            <a:solidFill>
              <a:srgbClr val="E0D0F8"/>
            </a:solidFill>
            <a:prstDash val="solid"/>
          </a:ln>
          <a:effectLst>
            <a:outerShdw blurRad="177800" dist="508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2" name="Text 17"/>
          <p:cNvSpPr/>
          <p:nvPr/>
        </p:nvSpPr>
        <p:spPr>
          <a:xfrm>
            <a:off x="4828032" y="2084832"/>
            <a:ext cx="1773936" cy="23042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A3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a row → form fields populate.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5A3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Edit values → click "Update".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5A3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Grid refreshes immediately after save.</a:t>
            </a:r>
            <a:endParaRPr lang="en-US" sz="1150" dirty="0"/>
          </a:p>
        </p:txBody>
      </p:sp>
      <p:sp>
        <p:nvSpPr>
          <p:cNvPr id="23" name="Shape 18"/>
          <p:cNvSpPr/>
          <p:nvPr/>
        </p:nvSpPr>
        <p:spPr>
          <a:xfrm>
            <a:off x="6876288" y="1389888"/>
            <a:ext cx="2066544" cy="530352"/>
          </a:xfrm>
          <a:prstGeom prst="roundRect">
            <a:avLst>
              <a:gd name="adj" fmla="val 17241"/>
            </a:avLst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</p:sp>
      <p:pic>
        <p:nvPicPr>
          <p:cNvPr id="24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040880" y="1481328"/>
            <a:ext cx="347472" cy="347472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7443216" y="1389888"/>
            <a:ext cx="1389888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DELETE</a:t>
            </a:r>
            <a:endParaRPr lang="en-US" sz="1800" dirty="0"/>
          </a:p>
        </p:txBody>
      </p:sp>
      <p:sp>
        <p:nvSpPr>
          <p:cNvPr id="26" name="Shape 20"/>
          <p:cNvSpPr/>
          <p:nvPr/>
        </p:nvSpPr>
        <p:spPr>
          <a:xfrm>
            <a:off x="6876288" y="1956816"/>
            <a:ext cx="2066544" cy="2560320"/>
          </a:xfrm>
          <a:prstGeom prst="roundRect">
            <a:avLst>
              <a:gd name="adj" fmla="val 5310"/>
            </a:avLst>
          </a:prstGeom>
          <a:solidFill>
            <a:srgbClr val="FFFFFF"/>
          </a:solidFill>
          <a:ln w="12700">
            <a:solidFill>
              <a:srgbClr val="E0D0F8"/>
            </a:solidFill>
            <a:prstDash val="solid"/>
          </a:ln>
          <a:effectLst>
            <a:outerShdw blurRad="177800" dist="508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7" name="Text 21"/>
          <p:cNvSpPr/>
          <p:nvPr/>
        </p:nvSpPr>
        <p:spPr>
          <a:xfrm>
            <a:off x="7022592" y="2084832"/>
            <a:ext cx="1773936" cy="23042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A3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a row → click "Delete".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5A3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Confirmation dialog prevents accidents.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5A3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FK cascade clears child records first.</a:t>
            </a:r>
            <a:endParaRPr lang="en-US" sz="1150" dirty="0"/>
          </a:p>
        </p:txBody>
      </p:sp>
      <p:sp>
        <p:nvSpPr>
          <p:cNvPr id="28" name="Shape 22"/>
          <p:cNvSpPr/>
          <p:nvPr/>
        </p:nvSpPr>
        <p:spPr>
          <a:xfrm>
            <a:off x="292608" y="4645152"/>
            <a:ext cx="8558784" cy="365760"/>
          </a:xfrm>
          <a:prstGeom prst="roundRect">
            <a:avLst>
              <a:gd name="adj" fmla="val 20000"/>
            </a:avLst>
          </a:prstGeom>
          <a:solidFill>
            <a:srgbClr val="EDE0FF"/>
          </a:solidFill>
          <a:ln w="12700">
            <a:solidFill>
              <a:srgbClr val="9D5EE8"/>
            </a:solidFill>
            <a:prstDash val="solid"/>
          </a:ln>
        </p:spPr>
      </p:sp>
      <p:sp>
        <p:nvSpPr>
          <p:cNvPr id="29" name="Text 23"/>
          <p:cNvSpPr/>
          <p:nvPr/>
        </p:nvSpPr>
        <p:spPr>
          <a:xfrm>
            <a:off x="292608" y="4645152"/>
            <a:ext cx="85587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D0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CRUD implemented for:   Areas   ·   Households   ·   Citizens   ·   (Users via Signup)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4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2D0660"/>
          </a:solidFill>
          <a:ln w="12700">
            <a:solidFill>
              <a:srgbClr val="2D066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046720" y="91440"/>
            <a:ext cx="274320" cy="274320"/>
          </a:xfrm>
          <a:prstGeom prst="ellipse">
            <a:avLst/>
          </a:prstGeom>
          <a:solidFill>
            <a:srgbClr val="FF7043">
              <a:alpha val="60000"/>
            </a:srgbClr>
          </a:solidFill>
          <a:ln w="12700">
            <a:solidFill>
              <a:srgbClr val="FF7043">
                <a:alpha val="6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412480" y="182880"/>
            <a:ext cx="182880" cy="182880"/>
          </a:xfrm>
          <a:prstGeom prst="ellipse">
            <a:avLst/>
          </a:prstGeom>
          <a:solidFill>
            <a:srgbClr val="FFAA80">
              <a:alpha val="60000"/>
            </a:srgbClr>
          </a:solidFill>
          <a:ln w="12700">
            <a:solidFill>
              <a:srgbClr val="FFAA80">
                <a:alpha val="6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84048" y="91440"/>
            <a:ext cx="8412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50" dirty="0">
                <a:solidFill>
                  <a:srgbClr val="FFA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 ·  FEATURES     CITIZEN REGISTRY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384048" y="621792"/>
            <a:ext cx="84124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A05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heart of the system   complete citizen profiles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384048" y="1234440"/>
            <a:ext cx="1005840" cy="50292"/>
          </a:xfrm>
          <a:prstGeom prst="rect">
            <a:avLst/>
          </a:prstGeom>
          <a:solidFill>
            <a:srgbClr val="FF7043"/>
          </a:solidFill>
          <a:ln w="12700">
            <a:solidFill>
              <a:srgbClr val="FF7043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7472" y="1389888"/>
            <a:ext cx="4114800" cy="3547872"/>
          </a:xfrm>
          <a:prstGeom prst="roundRect">
            <a:avLst>
              <a:gd name="adj" fmla="val 3093"/>
            </a:avLst>
          </a:prstGeom>
          <a:solidFill>
            <a:srgbClr val="FFFFFF"/>
          </a:solidFill>
          <a:ln w="12700">
            <a:solidFill>
              <a:srgbClr val="E0D0F8"/>
            </a:solidFill>
            <a:prstDash val="solid"/>
          </a:ln>
          <a:effectLst>
            <a:outerShdw blurRad="177800" dist="508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75488" y="1481328"/>
            <a:ext cx="385876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D066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Fields captured per citizen</a:t>
            </a:r>
            <a:endParaRPr lang="en-US" sz="1300" dirty="0"/>
          </a:p>
        </p:txBody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3776" y="1938528"/>
            <a:ext cx="274320" cy="27432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841248" y="1901952"/>
            <a:ext cx="349300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A3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CNIC / B-Form Number (13 digits, validated)</a:t>
            </a:r>
            <a:endParaRPr lang="en-US" sz="1100" dirty="0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3776" y="2286000"/>
            <a:ext cx="274320" cy="27432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841248" y="2249424"/>
            <a:ext cx="349300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A3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Name</a:t>
            </a:r>
            <a:endParaRPr lang="en-US" sz="1100" dirty="0"/>
          </a:p>
        </p:txBody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3776" y="2633472"/>
            <a:ext cx="274320" cy="27432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841248" y="2596896"/>
            <a:ext cx="349300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A3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Gender (Male / Female / Other)</a:t>
            </a:r>
            <a:endParaRPr lang="en-US" sz="1100" dirty="0"/>
          </a:p>
        </p:txBody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3776" y="2980944"/>
            <a:ext cx="274320" cy="27432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841248" y="2944368"/>
            <a:ext cx="349300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A3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 of Birth → Age (auto-calculated)</a:t>
            </a:r>
            <a:endParaRPr lang="en-US" sz="1100" dirty="0"/>
          </a:p>
        </p:txBody>
      </p:sp>
      <p:pic>
        <p:nvPicPr>
          <p:cNvPr id="18" name="Image 4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3776" y="3328416"/>
            <a:ext cx="274320" cy="274320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841248" y="3291840"/>
            <a:ext cx="349300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A3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Marital Status</a:t>
            </a:r>
            <a:endParaRPr lang="en-US" sz="1100" dirty="0"/>
          </a:p>
        </p:txBody>
      </p:sp>
      <p:pic>
        <p:nvPicPr>
          <p:cNvPr id="20" name="Image 5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3776" y="3675888"/>
            <a:ext cx="274320" cy="274320"/>
          </a:xfrm>
          <a:prstGeom prst="rect">
            <a:avLst/>
          </a:prstGeom>
        </p:spPr>
      </p:pic>
      <p:sp>
        <p:nvSpPr>
          <p:cNvPr id="21" name="Text 13"/>
          <p:cNvSpPr/>
          <p:nvPr/>
        </p:nvSpPr>
        <p:spPr>
          <a:xfrm>
            <a:off x="841248" y="3639312"/>
            <a:ext cx="349300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A3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Education Level</a:t>
            </a:r>
            <a:endParaRPr lang="en-US" sz="1100" dirty="0"/>
          </a:p>
        </p:txBody>
      </p:sp>
      <p:pic>
        <p:nvPicPr>
          <p:cNvPr id="22" name="Image 6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3776" y="4023360"/>
            <a:ext cx="274320" cy="274320"/>
          </a:xfrm>
          <a:prstGeom prst="rect">
            <a:avLst/>
          </a:prstGeom>
        </p:spPr>
      </p:pic>
      <p:sp>
        <p:nvSpPr>
          <p:cNvPr id="23" name="Text 14"/>
          <p:cNvSpPr/>
          <p:nvPr/>
        </p:nvSpPr>
        <p:spPr>
          <a:xfrm>
            <a:off x="841248" y="3986784"/>
            <a:ext cx="349300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A3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Occupation</a:t>
            </a:r>
            <a:endParaRPr lang="en-US" sz="1100" dirty="0"/>
          </a:p>
        </p:txBody>
      </p:sp>
      <p:pic>
        <p:nvPicPr>
          <p:cNvPr id="24" name="Image 7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3776" y="4370832"/>
            <a:ext cx="274320" cy="274320"/>
          </a:xfrm>
          <a:prstGeom prst="rect">
            <a:avLst/>
          </a:prstGeom>
        </p:spPr>
      </p:pic>
      <p:sp>
        <p:nvSpPr>
          <p:cNvPr id="25" name="Text 15"/>
          <p:cNvSpPr/>
          <p:nvPr/>
        </p:nvSpPr>
        <p:spPr>
          <a:xfrm>
            <a:off x="841248" y="4334256"/>
            <a:ext cx="349300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A3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Relationship with Family Head</a:t>
            </a:r>
            <a:endParaRPr lang="en-US" sz="1100" dirty="0"/>
          </a:p>
        </p:txBody>
      </p:sp>
      <p:pic>
        <p:nvPicPr>
          <p:cNvPr id="26" name="Image 8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3776" y="4659156"/>
            <a:ext cx="274320" cy="274320"/>
          </a:xfrm>
          <a:prstGeom prst="rect">
            <a:avLst/>
          </a:prstGeom>
        </p:spPr>
      </p:pic>
      <p:sp>
        <p:nvSpPr>
          <p:cNvPr id="27" name="Text 16"/>
          <p:cNvSpPr/>
          <p:nvPr/>
        </p:nvSpPr>
        <p:spPr>
          <a:xfrm>
            <a:off x="841248" y="4681728"/>
            <a:ext cx="349300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A3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Linked Household (dropdown)</a:t>
            </a:r>
            <a:endParaRPr lang="en-US" sz="1100" dirty="0"/>
          </a:p>
        </p:txBody>
      </p:sp>
      <p:sp>
        <p:nvSpPr>
          <p:cNvPr id="28" name="Shape 17"/>
          <p:cNvSpPr/>
          <p:nvPr/>
        </p:nvSpPr>
        <p:spPr>
          <a:xfrm>
            <a:off x="4645152" y="1389888"/>
            <a:ext cx="4151376" cy="3547872"/>
          </a:xfrm>
          <a:prstGeom prst="roundRect">
            <a:avLst>
              <a:gd name="adj" fmla="val 3093"/>
            </a:avLst>
          </a:prstGeom>
          <a:solidFill>
            <a:srgbClr val="FFFFFF"/>
          </a:solidFill>
          <a:ln w="12700">
            <a:solidFill>
              <a:srgbClr val="E0D0F8"/>
            </a:solidFill>
            <a:prstDash val="solid"/>
          </a:ln>
          <a:effectLst>
            <a:outerShdw blurRad="177800" dist="508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9" name="Text 18"/>
          <p:cNvSpPr/>
          <p:nvPr/>
        </p:nvSpPr>
        <p:spPr>
          <a:xfrm>
            <a:off x="4773168" y="1481328"/>
            <a:ext cx="389534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D066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Validation rules enforced</a:t>
            </a:r>
            <a:endParaRPr lang="en-US" sz="1300" dirty="0"/>
          </a:p>
        </p:txBody>
      </p:sp>
      <p:sp>
        <p:nvSpPr>
          <p:cNvPr id="30" name="Shape 19"/>
          <p:cNvSpPr/>
          <p:nvPr/>
        </p:nvSpPr>
        <p:spPr>
          <a:xfrm>
            <a:off x="4736592" y="1920240"/>
            <a:ext cx="3931920" cy="512064"/>
          </a:xfrm>
          <a:prstGeom prst="roundRect">
            <a:avLst>
              <a:gd name="adj" fmla="val 14286"/>
            </a:avLst>
          </a:prstGeom>
          <a:solidFill>
            <a:srgbClr val="EDE0FF"/>
          </a:solidFill>
          <a:ln w="12700">
            <a:solidFill>
              <a:srgbClr val="E8DEFF"/>
            </a:solidFill>
            <a:prstDash val="solid"/>
          </a:ln>
        </p:spPr>
      </p:sp>
      <p:sp>
        <p:nvSpPr>
          <p:cNvPr id="31" name="Text 20"/>
          <p:cNvSpPr/>
          <p:nvPr/>
        </p:nvSpPr>
        <p:spPr>
          <a:xfrm>
            <a:off x="4828032" y="1956816"/>
            <a:ext cx="37490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D066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CNIC format</a:t>
            </a:r>
            <a:endParaRPr lang="en-US" sz="1100" dirty="0"/>
          </a:p>
        </p:txBody>
      </p:sp>
      <p:sp>
        <p:nvSpPr>
          <p:cNvPr id="32" name="Text 21"/>
          <p:cNvSpPr/>
          <p:nvPr/>
        </p:nvSpPr>
        <p:spPr>
          <a:xfrm>
            <a:off x="4828032" y="2176272"/>
            <a:ext cx="3749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A3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Regex: exactly 13 digits, no dashes or spaces</a:t>
            </a:r>
            <a:endParaRPr lang="en-US" sz="1000" dirty="0"/>
          </a:p>
        </p:txBody>
      </p:sp>
      <p:sp>
        <p:nvSpPr>
          <p:cNvPr id="33" name="Shape 22"/>
          <p:cNvSpPr/>
          <p:nvPr/>
        </p:nvSpPr>
        <p:spPr>
          <a:xfrm>
            <a:off x="4736592" y="2523744"/>
            <a:ext cx="3931920" cy="512064"/>
          </a:xfrm>
          <a:prstGeom prst="roundRect">
            <a:avLst>
              <a:gd name="adj" fmla="val 14286"/>
            </a:avLst>
          </a:prstGeom>
          <a:solidFill>
            <a:srgbClr val="FFF3EE"/>
          </a:solidFill>
          <a:ln w="12700">
            <a:solidFill>
              <a:srgbClr val="FFAA80"/>
            </a:solidFill>
            <a:prstDash val="solid"/>
          </a:ln>
        </p:spPr>
      </p:sp>
      <p:sp>
        <p:nvSpPr>
          <p:cNvPr id="34" name="Text 23"/>
          <p:cNvSpPr/>
          <p:nvPr/>
        </p:nvSpPr>
        <p:spPr>
          <a:xfrm>
            <a:off x="4828032" y="2560320"/>
            <a:ext cx="37490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D066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Duplicate CNIC</a:t>
            </a:r>
            <a:endParaRPr lang="en-US" sz="1100" dirty="0"/>
          </a:p>
        </p:txBody>
      </p:sp>
      <p:sp>
        <p:nvSpPr>
          <p:cNvPr id="35" name="Text 24"/>
          <p:cNvSpPr/>
          <p:nvPr/>
        </p:nvSpPr>
        <p:spPr>
          <a:xfrm>
            <a:off x="4828032" y="2779776"/>
            <a:ext cx="3749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A3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COUNT check before INSERT + UNIQUE constraint</a:t>
            </a:r>
            <a:endParaRPr lang="en-US" sz="1000" dirty="0"/>
          </a:p>
        </p:txBody>
      </p:sp>
      <p:sp>
        <p:nvSpPr>
          <p:cNvPr id="36" name="Shape 25"/>
          <p:cNvSpPr/>
          <p:nvPr/>
        </p:nvSpPr>
        <p:spPr>
          <a:xfrm>
            <a:off x="4736592" y="3127248"/>
            <a:ext cx="3931920" cy="512064"/>
          </a:xfrm>
          <a:prstGeom prst="roundRect">
            <a:avLst>
              <a:gd name="adj" fmla="val 14286"/>
            </a:avLst>
          </a:prstGeom>
          <a:solidFill>
            <a:srgbClr val="EDE0FF"/>
          </a:solidFill>
          <a:ln w="12700">
            <a:solidFill>
              <a:srgbClr val="E8DEFF"/>
            </a:solidFill>
            <a:prstDash val="solid"/>
          </a:ln>
        </p:spPr>
      </p:sp>
      <p:sp>
        <p:nvSpPr>
          <p:cNvPr id="37" name="Text 26"/>
          <p:cNvSpPr/>
          <p:nvPr/>
        </p:nvSpPr>
        <p:spPr>
          <a:xfrm>
            <a:off x="4828032" y="3163824"/>
            <a:ext cx="37490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D066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Empty fields</a:t>
            </a:r>
            <a:endParaRPr lang="en-US" sz="1100" dirty="0"/>
          </a:p>
        </p:txBody>
      </p:sp>
      <p:sp>
        <p:nvSpPr>
          <p:cNvPr id="38" name="Text 27"/>
          <p:cNvSpPr/>
          <p:nvPr/>
        </p:nvSpPr>
        <p:spPr>
          <a:xfrm>
            <a:off x="4828032" y="3383280"/>
            <a:ext cx="3749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A3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field checked   red error shown if blank</a:t>
            </a:r>
            <a:endParaRPr lang="en-US" sz="1000" dirty="0"/>
          </a:p>
        </p:txBody>
      </p:sp>
      <p:sp>
        <p:nvSpPr>
          <p:cNvPr id="39" name="Shape 28"/>
          <p:cNvSpPr/>
          <p:nvPr/>
        </p:nvSpPr>
        <p:spPr>
          <a:xfrm>
            <a:off x="4736592" y="3730752"/>
            <a:ext cx="3931920" cy="512064"/>
          </a:xfrm>
          <a:prstGeom prst="roundRect">
            <a:avLst>
              <a:gd name="adj" fmla="val 14286"/>
            </a:avLst>
          </a:prstGeom>
          <a:solidFill>
            <a:srgbClr val="FFF3EE"/>
          </a:solidFill>
          <a:ln w="12700">
            <a:solidFill>
              <a:srgbClr val="FFAA80"/>
            </a:solidFill>
            <a:prstDash val="solid"/>
          </a:ln>
        </p:spPr>
      </p:sp>
      <p:sp>
        <p:nvSpPr>
          <p:cNvPr id="40" name="Text 29"/>
          <p:cNvSpPr/>
          <p:nvPr/>
        </p:nvSpPr>
        <p:spPr>
          <a:xfrm>
            <a:off x="4828032" y="3767328"/>
            <a:ext cx="37490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D066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Age validation</a:t>
            </a:r>
            <a:endParaRPr lang="en-US" sz="1100" dirty="0"/>
          </a:p>
        </p:txBody>
      </p:sp>
      <p:sp>
        <p:nvSpPr>
          <p:cNvPr id="41" name="Text 30"/>
          <p:cNvSpPr/>
          <p:nvPr/>
        </p:nvSpPr>
        <p:spPr>
          <a:xfrm>
            <a:off x="4828032" y="3986784"/>
            <a:ext cx="3749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A3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Calculated from DOB   negative age blocked</a:t>
            </a:r>
            <a:endParaRPr lang="en-US" sz="1000" dirty="0"/>
          </a:p>
        </p:txBody>
      </p:sp>
      <p:sp>
        <p:nvSpPr>
          <p:cNvPr id="42" name="Shape 31"/>
          <p:cNvSpPr/>
          <p:nvPr/>
        </p:nvSpPr>
        <p:spPr>
          <a:xfrm>
            <a:off x="4736592" y="4334256"/>
            <a:ext cx="3931920" cy="512064"/>
          </a:xfrm>
          <a:prstGeom prst="roundRect">
            <a:avLst>
              <a:gd name="adj" fmla="val 14286"/>
            </a:avLst>
          </a:prstGeom>
          <a:solidFill>
            <a:srgbClr val="EDE0FF"/>
          </a:solidFill>
          <a:ln w="12700">
            <a:solidFill>
              <a:srgbClr val="E8DEFF"/>
            </a:solidFill>
            <a:prstDash val="solid"/>
          </a:ln>
        </p:spPr>
      </p:sp>
      <p:sp>
        <p:nvSpPr>
          <p:cNvPr id="43" name="Text 32"/>
          <p:cNvSpPr/>
          <p:nvPr/>
        </p:nvSpPr>
        <p:spPr>
          <a:xfrm>
            <a:off x="4828032" y="4370832"/>
            <a:ext cx="37490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D066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Household link</a:t>
            </a:r>
            <a:endParaRPr lang="en-US" sz="1100" dirty="0"/>
          </a:p>
        </p:txBody>
      </p:sp>
      <p:sp>
        <p:nvSpPr>
          <p:cNvPr id="44" name="Text 33"/>
          <p:cNvSpPr/>
          <p:nvPr/>
        </p:nvSpPr>
        <p:spPr>
          <a:xfrm>
            <a:off x="4828032" y="4590288"/>
            <a:ext cx="3749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A3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ComboBox must have a selection   no orphan citizens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4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2D0660"/>
          </a:solidFill>
          <a:ln w="12700">
            <a:solidFill>
              <a:srgbClr val="2D066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046720" y="91440"/>
            <a:ext cx="274320" cy="274320"/>
          </a:xfrm>
          <a:prstGeom prst="ellipse">
            <a:avLst/>
          </a:prstGeom>
          <a:solidFill>
            <a:srgbClr val="FF7043">
              <a:alpha val="60000"/>
            </a:srgbClr>
          </a:solidFill>
          <a:ln w="12700">
            <a:solidFill>
              <a:srgbClr val="FF7043">
                <a:alpha val="6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412480" y="182880"/>
            <a:ext cx="182880" cy="182880"/>
          </a:xfrm>
          <a:prstGeom prst="ellipse">
            <a:avLst/>
          </a:prstGeom>
          <a:solidFill>
            <a:srgbClr val="FFAA80">
              <a:alpha val="60000"/>
            </a:srgbClr>
          </a:solidFill>
          <a:ln w="12700">
            <a:solidFill>
              <a:srgbClr val="FFAA80">
                <a:alpha val="6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84048" y="91440"/>
            <a:ext cx="8412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50" dirty="0">
                <a:solidFill>
                  <a:srgbClr val="FFA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 ·  APPLICATION FLOW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384048" y="621792"/>
            <a:ext cx="84124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05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complete officer journey through the system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384048" y="1234440"/>
            <a:ext cx="1005840" cy="50292"/>
          </a:xfrm>
          <a:prstGeom prst="rect">
            <a:avLst/>
          </a:prstGeom>
          <a:solidFill>
            <a:srgbClr val="FF7043"/>
          </a:solidFill>
          <a:ln w="12700">
            <a:solidFill>
              <a:srgbClr val="FF7043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96112" y="1371600"/>
            <a:ext cx="950976" cy="950976"/>
          </a:xfrm>
          <a:prstGeom prst="ellipse">
            <a:avLst/>
          </a:prstGeom>
          <a:solidFill>
            <a:srgbClr val="2D0660"/>
          </a:solidFill>
          <a:ln w="19050">
            <a:solidFill>
              <a:srgbClr val="2D066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96112" y="1371600"/>
            <a:ext cx="950976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800" dirty="0"/>
          </a:p>
        </p:txBody>
      </p:sp>
      <p:sp>
        <p:nvSpPr>
          <p:cNvPr id="10" name="Shape 8"/>
          <p:cNvSpPr/>
          <p:nvPr/>
        </p:nvSpPr>
        <p:spPr>
          <a:xfrm>
            <a:off x="1920240" y="1810512"/>
            <a:ext cx="512064" cy="73152"/>
          </a:xfrm>
          <a:prstGeom prst="rect">
            <a:avLst/>
          </a:prstGeom>
          <a:solidFill>
            <a:srgbClr val="FF7043"/>
          </a:solidFill>
          <a:ln w="12700">
            <a:solidFill>
              <a:srgbClr val="FF704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304288" y="164592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7043"/>
                </a:solidFill>
              </a:rPr>
              <a:t>▶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02336" y="2395728"/>
            <a:ext cx="195681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D066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Splash Screen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02336" y="2706624"/>
            <a:ext cx="1956816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A3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starts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5A3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2.5s load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5A3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 tested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108960" y="1371600"/>
            <a:ext cx="950976" cy="950976"/>
          </a:xfrm>
          <a:prstGeom prst="ellipse">
            <a:avLst/>
          </a:prstGeom>
          <a:solidFill>
            <a:srgbClr val="6B21C8"/>
          </a:solidFill>
          <a:ln w="19050">
            <a:solidFill>
              <a:srgbClr val="2D066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108960" y="1371600"/>
            <a:ext cx="950976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800" dirty="0"/>
          </a:p>
        </p:txBody>
      </p:sp>
      <p:sp>
        <p:nvSpPr>
          <p:cNvPr id="16" name="Shape 14"/>
          <p:cNvSpPr/>
          <p:nvPr/>
        </p:nvSpPr>
        <p:spPr>
          <a:xfrm>
            <a:off x="4133088" y="1810512"/>
            <a:ext cx="512064" cy="73152"/>
          </a:xfrm>
          <a:prstGeom prst="rect">
            <a:avLst/>
          </a:prstGeom>
          <a:solidFill>
            <a:srgbClr val="FF7043"/>
          </a:solidFill>
          <a:ln w="12700">
            <a:solidFill>
              <a:srgbClr val="FF704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17136" y="164592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7043"/>
                </a:solidFill>
              </a:rPr>
              <a:t>▶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2615184" y="2395728"/>
            <a:ext cx="195681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D066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Sign Up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2615184" y="2706624"/>
            <a:ext cx="1956816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A3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Name, email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5A3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password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5A3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SHA-256 hash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5321808" y="1371600"/>
            <a:ext cx="950976" cy="950976"/>
          </a:xfrm>
          <a:prstGeom prst="ellipse">
            <a:avLst/>
          </a:prstGeom>
          <a:solidFill>
            <a:srgbClr val="6B21C8"/>
          </a:solidFill>
          <a:ln w="19050">
            <a:solidFill>
              <a:srgbClr val="2D066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321808" y="1371600"/>
            <a:ext cx="950976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800" dirty="0"/>
          </a:p>
        </p:txBody>
      </p:sp>
      <p:sp>
        <p:nvSpPr>
          <p:cNvPr id="22" name="Shape 20"/>
          <p:cNvSpPr/>
          <p:nvPr/>
        </p:nvSpPr>
        <p:spPr>
          <a:xfrm>
            <a:off x="6345936" y="1810512"/>
            <a:ext cx="512064" cy="73152"/>
          </a:xfrm>
          <a:prstGeom prst="rect">
            <a:avLst/>
          </a:prstGeom>
          <a:solidFill>
            <a:srgbClr val="FF7043"/>
          </a:solidFill>
          <a:ln w="12700">
            <a:solidFill>
              <a:srgbClr val="FF7043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729984" y="164592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7043"/>
                </a:solidFill>
              </a:rPr>
              <a:t>▶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828032" y="2395728"/>
            <a:ext cx="195681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D066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Login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4828032" y="2706624"/>
            <a:ext cx="1956816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A3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+ pass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5A3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Hash verified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5A3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set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7534656" y="1371600"/>
            <a:ext cx="950976" cy="950976"/>
          </a:xfrm>
          <a:prstGeom prst="ellipse">
            <a:avLst/>
          </a:prstGeom>
          <a:solidFill>
            <a:srgbClr val="6B21C8"/>
          </a:solidFill>
          <a:ln w="19050">
            <a:solidFill>
              <a:srgbClr val="2D066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534656" y="1371600"/>
            <a:ext cx="950976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800" dirty="0"/>
          </a:p>
        </p:txBody>
      </p:sp>
      <p:sp>
        <p:nvSpPr>
          <p:cNvPr id="28" name="Text 26"/>
          <p:cNvSpPr/>
          <p:nvPr/>
        </p:nvSpPr>
        <p:spPr>
          <a:xfrm>
            <a:off x="7040880" y="2395728"/>
            <a:ext cx="195681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D066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Dashboard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7040880" y="2706624"/>
            <a:ext cx="1956816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A3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stats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5A3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big buttons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5A3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 all data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896112" y="3218688"/>
            <a:ext cx="950976" cy="950976"/>
          </a:xfrm>
          <a:prstGeom prst="ellipse">
            <a:avLst/>
          </a:prstGeom>
          <a:solidFill>
            <a:srgbClr val="2D0660"/>
          </a:solidFill>
          <a:ln w="19050">
            <a:solidFill>
              <a:srgbClr val="2D066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96112" y="3218688"/>
            <a:ext cx="950976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2800" dirty="0"/>
          </a:p>
        </p:txBody>
      </p:sp>
      <p:sp>
        <p:nvSpPr>
          <p:cNvPr id="32" name="Shape 30"/>
          <p:cNvSpPr/>
          <p:nvPr/>
        </p:nvSpPr>
        <p:spPr>
          <a:xfrm>
            <a:off x="1920240" y="3657600"/>
            <a:ext cx="512064" cy="73152"/>
          </a:xfrm>
          <a:prstGeom prst="rect">
            <a:avLst/>
          </a:prstGeom>
          <a:solidFill>
            <a:srgbClr val="FF7043"/>
          </a:solidFill>
          <a:ln w="12700">
            <a:solidFill>
              <a:srgbClr val="FF7043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2304288" y="349300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7043"/>
                </a:solidFill>
              </a:rPr>
              <a:t>▶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402336" y="4242816"/>
            <a:ext cx="195681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D066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Area Mgmt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402336" y="4553712"/>
            <a:ext cx="1956816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A3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Province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5A3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District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5A3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Tehsil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3108960" y="3218688"/>
            <a:ext cx="950976" cy="950976"/>
          </a:xfrm>
          <a:prstGeom prst="ellipse">
            <a:avLst/>
          </a:prstGeom>
          <a:solidFill>
            <a:srgbClr val="6B21C8"/>
          </a:solidFill>
          <a:ln w="19050">
            <a:solidFill>
              <a:srgbClr val="2D066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108960" y="3218688"/>
            <a:ext cx="950976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2800" dirty="0"/>
          </a:p>
        </p:txBody>
      </p:sp>
      <p:sp>
        <p:nvSpPr>
          <p:cNvPr id="38" name="Shape 36"/>
          <p:cNvSpPr/>
          <p:nvPr/>
        </p:nvSpPr>
        <p:spPr>
          <a:xfrm>
            <a:off x="4133088" y="3657600"/>
            <a:ext cx="512064" cy="73152"/>
          </a:xfrm>
          <a:prstGeom prst="rect">
            <a:avLst/>
          </a:prstGeom>
          <a:solidFill>
            <a:srgbClr val="FF7043"/>
          </a:solidFill>
          <a:ln w="12700">
            <a:solidFill>
              <a:srgbClr val="FF7043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517136" y="349300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7043"/>
                </a:solidFill>
              </a:rPr>
              <a:t>▶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2615184" y="4242816"/>
            <a:ext cx="195681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D066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Add Household</a:t>
            </a:r>
            <a:endParaRPr lang="en-US" sz="1300" dirty="0"/>
          </a:p>
        </p:txBody>
      </p:sp>
      <p:sp>
        <p:nvSpPr>
          <p:cNvPr id="41" name="Text 39"/>
          <p:cNvSpPr/>
          <p:nvPr/>
        </p:nvSpPr>
        <p:spPr>
          <a:xfrm>
            <a:off x="2615184" y="4553712"/>
            <a:ext cx="1956816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A3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House number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5A3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 of family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5A3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 to area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5321808" y="3218688"/>
            <a:ext cx="950976" cy="950976"/>
          </a:xfrm>
          <a:prstGeom prst="ellipse">
            <a:avLst/>
          </a:prstGeom>
          <a:solidFill>
            <a:srgbClr val="6B21C8"/>
          </a:solidFill>
          <a:ln w="19050">
            <a:solidFill>
              <a:srgbClr val="2D066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321808" y="3218688"/>
            <a:ext cx="950976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2800" dirty="0"/>
          </a:p>
        </p:txBody>
      </p:sp>
      <p:sp>
        <p:nvSpPr>
          <p:cNvPr id="44" name="Shape 42"/>
          <p:cNvSpPr/>
          <p:nvPr/>
        </p:nvSpPr>
        <p:spPr>
          <a:xfrm>
            <a:off x="6345936" y="3657600"/>
            <a:ext cx="512064" cy="73152"/>
          </a:xfrm>
          <a:prstGeom prst="rect">
            <a:avLst/>
          </a:prstGeom>
          <a:solidFill>
            <a:srgbClr val="FF7043"/>
          </a:solidFill>
          <a:ln w="12700">
            <a:solidFill>
              <a:srgbClr val="FF7043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729984" y="349300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7043"/>
                </a:solidFill>
              </a:rPr>
              <a:t>▶</a:t>
            </a:r>
            <a:endParaRPr lang="en-US" sz="1200" dirty="0"/>
          </a:p>
        </p:txBody>
      </p:sp>
      <p:sp>
        <p:nvSpPr>
          <p:cNvPr id="46" name="Text 44"/>
          <p:cNvSpPr/>
          <p:nvPr/>
        </p:nvSpPr>
        <p:spPr>
          <a:xfrm>
            <a:off x="4828032" y="4242816"/>
            <a:ext cx="195681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D066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Add Citizen</a:t>
            </a:r>
            <a:endParaRPr lang="en-US" sz="1300" dirty="0"/>
          </a:p>
        </p:txBody>
      </p:sp>
      <p:sp>
        <p:nvSpPr>
          <p:cNvPr id="47" name="Text 45"/>
          <p:cNvSpPr/>
          <p:nvPr/>
        </p:nvSpPr>
        <p:spPr>
          <a:xfrm>
            <a:off x="4828032" y="4553712"/>
            <a:ext cx="1956816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A3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CNIC form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5A3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fields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5A3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 to house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7534656" y="3218688"/>
            <a:ext cx="950976" cy="950976"/>
          </a:xfrm>
          <a:prstGeom prst="ellipse">
            <a:avLst/>
          </a:prstGeom>
          <a:solidFill>
            <a:srgbClr val="6B21C8"/>
          </a:solidFill>
          <a:ln w="19050">
            <a:solidFill>
              <a:srgbClr val="2D0660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7534656" y="3218688"/>
            <a:ext cx="950976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</a:t>
            </a:r>
            <a:endParaRPr lang="en-US" sz="2800" dirty="0"/>
          </a:p>
        </p:txBody>
      </p:sp>
      <p:sp>
        <p:nvSpPr>
          <p:cNvPr id="50" name="Text 48"/>
          <p:cNvSpPr/>
          <p:nvPr/>
        </p:nvSpPr>
        <p:spPr>
          <a:xfrm>
            <a:off x="7040880" y="4242816"/>
            <a:ext cx="195681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D066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View All</a:t>
            </a:r>
            <a:endParaRPr lang="en-US" sz="1300" dirty="0"/>
          </a:p>
        </p:txBody>
      </p:sp>
      <p:sp>
        <p:nvSpPr>
          <p:cNvPr id="51" name="Text 49"/>
          <p:cNvSpPr/>
          <p:nvPr/>
        </p:nvSpPr>
        <p:spPr>
          <a:xfrm>
            <a:off x="7040880" y="4553712"/>
            <a:ext cx="1956816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A3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&amp; sort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5A3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citizens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5A3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households</a:t>
            </a:r>
            <a:endParaRPr lang="en-US" sz="1000" dirty="0"/>
          </a:p>
        </p:txBody>
      </p:sp>
      <p:sp>
        <p:nvSpPr>
          <p:cNvPr id="52" name="Shape 50"/>
          <p:cNvSpPr/>
          <p:nvPr/>
        </p:nvSpPr>
        <p:spPr>
          <a:xfrm>
            <a:off x="4407408" y="2322576"/>
            <a:ext cx="0" cy="896112"/>
          </a:xfrm>
          <a:prstGeom prst="line">
            <a:avLst/>
          </a:prstGeom>
          <a:noFill/>
          <a:ln w="25400">
            <a:solidFill>
              <a:srgbClr val="FF7043"/>
            </a:solidFill>
            <a:prstDash val="dash"/>
          </a:ln>
        </p:spPr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2D0660"/>
          </a:solidFill>
          <a:ln w="12700">
            <a:solidFill>
              <a:srgbClr val="2D066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669280" y="-1645920"/>
            <a:ext cx="5943600" cy="5943600"/>
          </a:xfrm>
          <a:prstGeom prst="ellipse">
            <a:avLst/>
          </a:prstGeom>
          <a:solidFill>
            <a:srgbClr val="FF7043">
              <a:alpha val="16000"/>
            </a:srgbClr>
          </a:solidFill>
          <a:ln w="12700">
            <a:solidFill>
              <a:srgbClr val="FF7043">
                <a:alpha val="16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-1645920" y="2926080"/>
            <a:ext cx="5029200" cy="5029200"/>
          </a:xfrm>
          <a:prstGeom prst="ellipse">
            <a:avLst/>
          </a:prstGeom>
          <a:solidFill>
            <a:srgbClr val="6B21C8">
              <a:alpha val="20000"/>
            </a:srgbClr>
          </a:solidFill>
          <a:ln w="12700">
            <a:solidFill>
              <a:srgbClr val="6B21C8">
                <a:alpha val="2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82880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350" dirty="0">
                <a:solidFill>
                  <a:srgbClr val="FFA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&amp; VALIDATION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57200" y="621792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Two layers of protection: accounts and data quality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320040" y="1261872"/>
            <a:ext cx="4023360" cy="3657600"/>
          </a:xfrm>
          <a:prstGeom prst="roundRect">
            <a:avLst>
              <a:gd name="adj" fmla="val 3500"/>
            </a:avLst>
          </a:prstGeom>
          <a:solidFill>
            <a:srgbClr val="200450"/>
          </a:solidFill>
          <a:ln w="12700">
            <a:solidFill>
              <a:srgbClr val="6B21C8">
                <a:alpha val="45000"/>
              </a:srgbClr>
            </a:solidFill>
            <a:prstDash val="solid"/>
          </a:ln>
          <a:effectLst>
            <a:outerShdw blurRad="177800" dist="50800" dir="2700000" algn="bl" rotWithShape="0">
              <a:srgbClr val="000000">
                <a:alpha val="2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685800" y="1444752"/>
            <a:ext cx="749808" cy="749808"/>
          </a:xfrm>
          <a:prstGeom prst="ellipse">
            <a:avLst/>
          </a:prstGeom>
          <a:solidFill>
            <a:srgbClr val="6B21C8"/>
          </a:solidFill>
          <a:ln w="12700">
            <a:solidFill>
              <a:srgbClr val="6B21C8"/>
            </a:solidFill>
            <a:prstDash val="solid"/>
          </a:ln>
        </p:spPr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5528" y="1554480"/>
            <a:ext cx="530352" cy="530352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536192" y="1481328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FFA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1536192" y="1783080"/>
            <a:ext cx="25603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Password Protection</a:t>
            </a:r>
            <a:endParaRPr lang="en-US" sz="1500" dirty="0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5488" y="2322576"/>
            <a:ext cx="274320" cy="27432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822960" y="2286000"/>
            <a:ext cx="336499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8D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SHA-256 via System.Security.Cryptography</a:t>
            </a:r>
            <a:endParaRPr lang="en-US" sz="1100" dirty="0"/>
          </a:p>
        </p:txBody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5488" y="2743200"/>
            <a:ext cx="274320" cy="27432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822960" y="2706624"/>
            <a:ext cx="336499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8D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plain text stored in the database   ever</a:t>
            </a:r>
            <a:endParaRPr lang="en-US" sz="1100" dirty="0"/>
          </a:p>
        </p:txBody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5488" y="3163824"/>
            <a:ext cx="274320" cy="27432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822960" y="3127248"/>
            <a:ext cx="336499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8D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Hash compared character-by-character on login</a:t>
            </a:r>
            <a:endParaRPr lang="en-US" sz="1100" dirty="0"/>
          </a:p>
        </p:txBody>
      </p:sp>
      <p:pic>
        <p:nvPicPr>
          <p:cNvPr id="18" name="Image 4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5488" y="3584448"/>
            <a:ext cx="274320" cy="274320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822960" y="3547872"/>
            <a:ext cx="336499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8D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kept in static SessionManager class</a:t>
            </a:r>
            <a:endParaRPr lang="en-US" sz="1100" dirty="0"/>
          </a:p>
        </p:txBody>
      </p:sp>
      <p:pic>
        <p:nvPicPr>
          <p:cNvPr id="20" name="Image 5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5488" y="4005072"/>
            <a:ext cx="274320" cy="274320"/>
          </a:xfrm>
          <a:prstGeom prst="rect">
            <a:avLst/>
          </a:prstGeom>
        </p:spPr>
      </p:pic>
      <p:sp>
        <p:nvSpPr>
          <p:cNvPr id="21" name="Text 13"/>
          <p:cNvSpPr/>
          <p:nvPr/>
        </p:nvSpPr>
        <p:spPr>
          <a:xfrm>
            <a:off x="822960" y="3968496"/>
            <a:ext cx="336499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8D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Logout clears UserID, FullName and Email</a:t>
            </a:r>
            <a:endParaRPr lang="en-US" sz="1100" dirty="0"/>
          </a:p>
        </p:txBody>
      </p:sp>
      <p:pic>
        <p:nvPicPr>
          <p:cNvPr id="22" name="Image 6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5488" y="4425696"/>
            <a:ext cx="274320" cy="274320"/>
          </a:xfrm>
          <a:prstGeom prst="rect">
            <a:avLst/>
          </a:prstGeom>
        </p:spPr>
      </p:pic>
      <p:sp>
        <p:nvSpPr>
          <p:cNvPr id="23" name="Text 14"/>
          <p:cNvSpPr/>
          <p:nvPr/>
        </p:nvSpPr>
        <p:spPr>
          <a:xfrm>
            <a:off x="822960" y="4389120"/>
            <a:ext cx="336499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8D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SqlParameter prevents SQL injection attacks</a:t>
            </a:r>
            <a:endParaRPr lang="en-US" sz="1100" dirty="0"/>
          </a:p>
        </p:txBody>
      </p:sp>
      <p:sp>
        <p:nvSpPr>
          <p:cNvPr id="24" name="Shape 15"/>
          <p:cNvSpPr/>
          <p:nvPr/>
        </p:nvSpPr>
        <p:spPr>
          <a:xfrm>
            <a:off x="4800600" y="1261872"/>
            <a:ext cx="4023360" cy="3657600"/>
          </a:xfrm>
          <a:prstGeom prst="roundRect">
            <a:avLst>
              <a:gd name="adj" fmla="val 3500"/>
            </a:avLst>
          </a:prstGeom>
          <a:solidFill>
            <a:srgbClr val="200450"/>
          </a:solidFill>
          <a:ln w="12700">
            <a:solidFill>
              <a:srgbClr val="FF7043">
                <a:alpha val="45000"/>
              </a:srgbClr>
            </a:solidFill>
            <a:prstDash val="solid"/>
          </a:ln>
          <a:effectLst>
            <a:outerShdw blurRad="177800" dist="50800" dir="2700000" algn="bl" rotWithShape="0">
              <a:srgbClr val="000000">
                <a:alpha val="22000"/>
              </a:srgbClr>
            </a:outerShdw>
          </a:effectLst>
        </p:spPr>
      </p:sp>
      <p:sp>
        <p:nvSpPr>
          <p:cNvPr id="25" name="Shape 16"/>
          <p:cNvSpPr/>
          <p:nvPr/>
        </p:nvSpPr>
        <p:spPr>
          <a:xfrm>
            <a:off x="5166360" y="1444752"/>
            <a:ext cx="749808" cy="749808"/>
          </a:xfrm>
          <a:prstGeom prst="ellipse">
            <a:avLst/>
          </a:prstGeom>
          <a:solidFill>
            <a:srgbClr val="FF7043"/>
          </a:solidFill>
          <a:ln w="12700">
            <a:solidFill>
              <a:srgbClr val="FF7043"/>
            </a:solidFill>
            <a:prstDash val="solid"/>
          </a:ln>
        </p:spPr>
      </p:sp>
      <p:pic>
        <p:nvPicPr>
          <p:cNvPr id="26" name="Image 7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76088" y="1554480"/>
            <a:ext cx="530352" cy="530352"/>
          </a:xfrm>
          <a:prstGeom prst="rect">
            <a:avLst/>
          </a:prstGeom>
        </p:spPr>
      </p:pic>
      <p:sp>
        <p:nvSpPr>
          <p:cNvPr id="27" name="Text 17"/>
          <p:cNvSpPr/>
          <p:nvPr/>
        </p:nvSpPr>
        <p:spPr>
          <a:xfrm>
            <a:off x="6016752" y="1481328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FFA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</a:t>
            </a:r>
            <a:endParaRPr lang="en-US" sz="1000" dirty="0"/>
          </a:p>
        </p:txBody>
      </p:sp>
      <p:sp>
        <p:nvSpPr>
          <p:cNvPr id="28" name="Text 18"/>
          <p:cNvSpPr/>
          <p:nvPr/>
        </p:nvSpPr>
        <p:spPr>
          <a:xfrm>
            <a:off x="6016752" y="1783080"/>
            <a:ext cx="25603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Quality Rules</a:t>
            </a:r>
            <a:endParaRPr lang="en-US" sz="1500" dirty="0"/>
          </a:p>
        </p:txBody>
      </p:sp>
      <p:pic>
        <p:nvPicPr>
          <p:cNvPr id="29" name="Image 8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56048" y="2322576"/>
            <a:ext cx="274320" cy="274320"/>
          </a:xfrm>
          <a:prstGeom prst="rect">
            <a:avLst/>
          </a:prstGeom>
        </p:spPr>
      </p:pic>
      <p:sp>
        <p:nvSpPr>
          <p:cNvPr id="30" name="Text 19"/>
          <p:cNvSpPr/>
          <p:nvPr/>
        </p:nvSpPr>
        <p:spPr>
          <a:xfrm>
            <a:off x="5303520" y="2286000"/>
            <a:ext cx="336499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8D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CNIC: regex enforces exactly 13 digits</a:t>
            </a:r>
            <a:endParaRPr lang="en-US" sz="1100" dirty="0"/>
          </a:p>
        </p:txBody>
      </p:sp>
      <p:pic>
        <p:nvPicPr>
          <p:cNvPr id="31" name="Image 9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56048" y="2743200"/>
            <a:ext cx="274320" cy="274320"/>
          </a:xfrm>
          <a:prstGeom prst="rect">
            <a:avLst/>
          </a:prstGeom>
        </p:spPr>
      </p:pic>
      <p:sp>
        <p:nvSpPr>
          <p:cNvPr id="32" name="Text 20"/>
          <p:cNvSpPr/>
          <p:nvPr/>
        </p:nvSpPr>
        <p:spPr>
          <a:xfrm>
            <a:off x="5303520" y="2706624"/>
            <a:ext cx="336499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8D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Empty field check on every single form</a:t>
            </a:r>
            <a:endParaRPr lang="en-US" sz="1100" dirty="0"/>
          </a:p>
        </p:txBody>
      </p:sp>
      <p:pic>
        <p:nvPicPr>
          <p:cNvPr id="33" name="Image 1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56048" y="3163824"/>
            <a:ext cx="274320" cy="274320"/>
          </a:xfrm>
          <a:prstGeom prst="rect">
            <a:avLst/>
          </a:prstGeom>
        </p:spPr>
      </p:pic>
      <p:sp>
        <p:nvSpPr>
          <p:cNvPr id="34" name="Text 21"/>
          <p:cNvSpPr/>
          <p:nvPr/>
        </p:nvSpPr>
        <p:spPr>
          <a:xfrm>
            <a:off x="5303520" y="3127248"/>
            <a:ext cx="336499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8D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format validated with regex on signup</a:t>
            </a:r>
            <a:endParaRPr lang="en-US" sz="1100" dirty="0"/>
          </a:p>
        </p:txBody>
      </p:sp>
      <p:pic>
        <p:nvPicPr>
          <p:cNvPr id="35" name="Image 1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56048" y="3584448"/>
            <a:ext cx="274320" cy="274320"/>
          </a:xfrm>
          <a:prstGeom prst="rect">
            <a:avLst/>
          </a:prstGeom>
        </p:spPr>
      </p:pic>
      <p:sp>
        <p:nvSpPr>
          <p:cNvPr id="36" name="Text 22"/>
          <p:cNvSpPr/>
          <p:nvPr/>
        </p:nvSpPr>
        <p:spPr>
          <a:xfrm>
            <a:off x="5303520" y="3547872"/>
            <a:ext cx="336499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8D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Password minimum 6 characters enforced</a:t>
            </a:r>
            <a:endParaRPr lang="en-US" sz="1100" dirty="0"/>
          </a:p>
        </p:txBody>
      </p:sp>
      <p:pic>
        <p:nvPicPr>
          <p:cNvPr id="37" name="Image 1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56048" y="4005072"/>
            <a:ext cx="274320" cy="274320"/>
          </a:xfrm>
          <a:prstGeom prst="rect">
            <a:avLst/>
          </a:prstGeom>
        </p:spPr>
      </p:pic>
      <p:sp>
        <p:nvSpPr>
          <p:cNvPr id="38" name="Text 23"/>
          <p:cNvSpPr/>
          <p:nvPr/>
        </p:nvSpPr>
        <p:spPr>
          <a:xfrm>
            <a:off x="5303520" y="3968496"/>
            <a:ext cx="336499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8D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Duplicate CNIC: blocked at both app and DB level</a:t>
            </a:r>
            <a:endParaRPr lang="en-US" sz="1100" dirty="0"/>
          </a:p>
        </p:txBody>
      </p:sp>
      <p:pic>
        <p:nvPicPr>
          <p:cNvPr id="39" name="Image 1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56048" y="4425696"/>
            <a:ext cx="274320" cy="274320"/>
          </a:xfrm>
          <a:prstGeom prst="rect">
            <a:avLst/>
          </a:prstGeom>
        </p:spPr>
      </p:pic>
      <p:sp>
        <p:nvSpPr>
          <p:cNvPr id="40" name="Text 24"/>
          <p:cNvSpPr/>
          <p:nvPr/>
        </p:nvSpPr>
        <p:spPr>
          <a:xfrm>
            <a:off x="5303520" y="4389120"/>
            <a:ext cx="336499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8D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Age: auto-calculated   negative value blocked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8F4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2D0660"/>
          </a:solidFill>
          <a:ln w="12700">
            <a:solidFill>
              <a:srgbClr val="2D066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046720" y="91440"/>
            <a:ext cx="274320" cy="274320"/>
          </a:xfrm>
          <a:prstGeom prst="ellipse">
            <a:avLst/>
          </a:prstGeom>
          <a:solidFill>
            <a:srgbClr val="FF7043">
              <a:alpha val="60000"/>
            </a:srgbClr>
          </a:solidFill>
          <a:ln w="12700">
            <a:solidFill>
              <a:srgbClr val="FF7043">
                <a:alpha val="6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412480" y="182880"/>
            <a:ext cx="182880" cy="182880"/>
          </a:xfrm>
          <a:prstGeom prst="ellipse">
            <a:avLst/>
          </a:prstGeom>
          <a:solidFill>
            <a:srgbClr val="FFAA80">
              <a:alpha val="60000"/>
            </a:srgbClr>
          </a:solidFill>
          <a:ln w="12700">
            <a:solidFill>
              <a:srgbClr val="FFAA80">
                <a:alpha val="6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84048" y="91440"/>
            <a:ext cx="8412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50" dirty="0">
                <a:solidFill>
                  <a:srgbClr val="FFA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 ·  CHALLENGES &amp; SOLUTIONS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384048" y="621792"/>
            <a:ext cx="84124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05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Real problems we hit   and how we solved them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384048" y="1234440"/>
            <a:ext cx="1005840" cy="50292"/>
          </a:xfrm>
          <a:prstGeom prst="rect">
            <a:avLst/>
          </a:prstGeom>
          <a:solidFill>
            <a:srgbClr val="FF7043"/>
          </a:solidFill>
          <a:ln w="12700">
            <a:solidFill>
              <a:srgbClr val="FF7043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92608" y="1389888"/>
            <a:ext cx="3895344" cy="603504"/>
          </a:xfrm>
          <a:prstGeom prst="roundRect">
            <a:avLst>
              <a:gd name="adj" fmla="val 13636"/>
            </a:avLst>
          </a:prstGeom>
          <a:solidFill>
            <a:srgbClr val="EDE0FF"/>
          </a:solidFill>
          <a:ln w="12700">
            <a:solidFill>
              <a:srgbClr val="9D5EE8"/>
            </a:solidFill>
            <a:prstDash val="solid"/>
          </a:ln>
        </p:spPr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2336" y="1554480"/>
            <a:ext cx="274320" cy="27432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749808" y="1389888"/>
            <a:ext cx="3328416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D0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FK constraint error when deleting a household</a:t>
            </a:r>
            <a:endParaRPr lang="en-US" sz="1150" dirty="0"/>
          </a:p>
        </p:txBody>
      </p:sp>
      <p:sp>
        <p:nvSpPr>
          <p:cNvPr id="11" name="Text 8"/>
          <p:cNvSpPr/>
          <p:nvPr/>
        </p:nvSpPr>
        <p:spPr>
          <a:xfrm>
            <a:off x="4224528" y="1389888"/>
            <a:ext cx="42062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FF7043"/>
                </a:solidFill>
              </a:rPr>
              <a:t>→</a:t>
            </a:r>
            <a:endParaRPr lang="en-US" sz="2200" dirty="0"/>
          </a:p>
        </p:txBody>
      </p:sp>
      <p:sp>
        <p:nvSpPr>
          <p:cNvPr id="12" name="Shape 9"/>
          <p:cNvSpPr/>
          <p:nvPr/>
        </p:nvSpPr>
        <p:spPr>
          <a:xfrm>
            <a:off x="4681728" y="1389888"/>
            <a:ext cx="4169664" cy="603504"/>
          </a:xfrm>
          <a:prstGeom prst="roundRect">
            <a:avLst>
              <a:gd name="adj" fmla="val 13636"/>
            </a:avLst>
          </a:prstGeom>
          <a:solidFill>
            <a:srgbClr val="FFF3EE"/>
          </a:solidFill>
          <a:ln w="12700">
            <a:solidFill>
              <a:srgbClr val="FFAA80"/>
            </a:solidFill>
            <a:prstDash val="solid"/>
          </a:ln>
        </p:spPr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91456" y="1554480"/>
            <a:ext cx="274320" cy="27432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5138928" y="1389888"/>
            <a:ext cx="3602736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A0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Delete child citizens first in code before deleting the parent household   cascade in correct order</a:t>
            </a:r>
            <a:endParaRPr lang="en-US" sz="1150" dirty="0"/>
          </a:p>
        </p:txBody>
      </p:sp>
      <p:sp>
        <p:nvSpPr>
          <p:cNvPr id="15" name="Shape 11"/>
          <p:cNvSpPr/>
          <p:nvPr/>
        </p:nvSpPr>
        <p:spPr>
          <a:xfrm>
            <a:off x="292608" y="2103120"/>
            <a:ext cx="3895344" cy="603504"/>
          </a:xfrm>
          <a:prstGeom prst="roundRect">
            <a:avLst>
              <a:gd name="adj" fmla="val 13636"/>
            </a:avLst>
          </a:prstGeom>
          <a:solidFill>
            <a:srgbClr val="EDE0FF"/>
          </a:solidFill>
          <a:ln w="12700">
            <a:solidFill>
              <a:srgbClr val="9D5EE8"/>
            </a:solidFill>
            <a:prstDash val="solid"/>
          </a:ln>
        </p:spPr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2336" y="2267712"/>
            <a:ext cx="274320" cy="27432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749808" y="2103120"/>
            <a:ext cx="3328416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D0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DataGrid not updating after Add / Update / Delete</a:t>
            </a:r>
            <a:endParaRPr lang="en-US" sz="1150" dirty="0"/>
          </a:p>
        </p:txBody>
      </p:sp>
      <p:sp>
        <p:nvSpPr>
          <p:cNvPr id="18" name="Text 13"/>
          <p:cNvSpPr/>
          <p:nvPr/>
        </p:nvSpPr>
        <p:spPr>
          <a:xfrm>
            <a:off x="4224528" y="2103120"/>
            <a:ext cx="42062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FF7043"/>
                </a:solidFill>
              </a:rPr>
              <a:t>→</a:t>
            </a:r>
            <a:endParaRPr lang="en-US" sz="2200" dirty="0"/>
          </a:p>
        </p:txBody>
      </p:sp>
      <p:sp>
        <p:nvSpPr>
          <p:cNvPr id="19" name="Shape 14"/>
          <p:cNvSpPr/>
          <p:nvPr/>
        </p:nvSpPr>
        <p:spPr>
          <a:xfrm>
            <a:off x="4681728" y="2103120"/>
            <a:ext cx="4169664" cy="603504"/>
          </a:xfrm>
          <a:prstGeom prst="roundRect">
            <a:avLst>
              <a:gd name="adj" fmla="val 13636"/>
            </a:avLst>
          </a:prstGeom>
          <a:solidFill>
            <a:srgbClr val="FFF3EE"/>
          </a:solidFill>
          <a:ln w="12700">
            <a:solidFill>
              <a:srgbClr val="FFAA80"/>
            </a:solidFill>
            <a:prstDash val="solid"/>
          </a:ln>
        </p:spPr>
      </p:sp>
      <p:pic>
        <p:nvPicPr>
          <p:cNvPr id="20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91456" y="2267712"/>
            <a:ext cx="274320" cy="274320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5138928" y="2103120"/>
            <a:ext cx="3602736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A0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Reload DataTable from SQL and rebind ItemsSource after every CUD operation   no stale cache</a:t>
            </a:r>
            <a:endParaRPr lang="en-US" sz="1150" dirty="0"/>
          </a:p>
        </p:txBody>
      </p:sp>
      <p:sp>
        <p:nvSpPr>
          <p:cNvPr id="22" name="Shape 16"/>
          <p:cNvSpPr/>
          <p:nvPr/>
        </p:nvSpPr>
        <p:spPr>
          <a:xfrm>
            <a:off x="292608" y="2816352"/>
            <a:ext cx="3895344" cy="603504"/>
          </a:xfrm>
          <a:prstGeom prst="roundRect">
            <a:avLst>
              <a:gd name="adj" fmla="val 13636"/>
            </a:avLst>
          </a:prstGeom>
          <a:solidFill>
            <a:srgbClr val="EDE0FF"/>
          </a:solidFill>
          <a:ln w="12700">
            <a:solidFill>
              <a:srgbClr val="9D5EE8"/>
            </a:solidFill>
            <a:prstDash val="solid"/>
          </a:ln>
        </p:spPr>
      </p:sp>
      <p:pic>
        <p:nvPicPr>
          <p:cNvPr id="23" name="Image 4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2336" y="2980944"/>
            <a:ext cx="274320" cy="274320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749808" y="2816352"/>
            <a:ext cx="3328416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D0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ComboBox won't re-select when a grid row is clicked</a:t>
            </a:r>
            <a:endParaRPr lang="en-US" sz="1150" dirty="0"/>
          </a:p>
        </p:txBody>
      </p:sp>
      <p:sp>
        <p:nvSpPr>
          <p:cNvPr id="25" name="Text 18"/>
          <p:cNvSpPr/>
          <p:nvPr/>
        </p:nvSpPr>
        <p:spPr>
          <a:xfrm>
            <a:off x="4224528" y="2816352"/>
            <a:ext cx="42062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FF7043"/>
                </a:solidFill>
              </a:rPr>
              <a:t>→</a:t>
            </a:r>
            <a:endParaRPr lang="en-US" sz="2200" dirty="0"/>
          </a:p>
        </p:txBody>
      </p:sp>
      <p:sp>
        <p:nvSpPr>
          <p:cNvPr id="26" name="Shape 19"/>
          <p:cNvSpPr/>
          <p:nvPr/>
        </p:nvSpPr>
        <p:spPr>
          <a:xfrm>
            <a:off x="4681728" y="2816352"/>
            <a:ext cx="4169664" cy="603504"/>
          </a:xfrm>
          <a:prstGeom prst="roundRect">
            <a:avLst>
              <a:gd name="adj" fmla="val 13636"/>
            </a:avLst>
          </a:prstGeom>
          <a:solidFill>
            <a:srgbClr val="FFF3EE"/>
          </a:solidFill>
          <a:ln w="12700">
            <a:solidFill>
              <a:srgbClr val="FFAA80"/>
            </a:solidFill>
            <a:prstDash val="solid"/>
          </a:ln>
        </p:spPr>
      </p:sp>
      <p:pic>
        <p:nvPicPr>
          <p:cNvPr id="27" name="Image 5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91456" y="2980944"/>
            <a:ext cx="274320" cy="274320"/>
          </a:xfrm>
          <a:prstGeom prst="rect">
            <a:avLst/>
          </a:prstGeom>
        </p:spPr>
      </p:pic>
      <p:sp>
        <p:nvSpPr>
          <p:cNvPr id="28" name="Text 20"/>
          <p:cNvSpPr/>
          <p:nvPr/>
        </p:nvSpPr>
        <p:spPr>
          <a:xfrm>
            <a:off x="5138928" y="2816352"/>
            <a:ext cx="3602736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A0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Iterate the Items collection and match by integer </a:t>
            </a:r>
            <a:r>
              <a:rPr lang="en-US" sz="1150" dirty="0" err="1">
                <a:solidFill>
                  <a:srgbClr val="1A0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AreaID</a:t>
            </a:r>
            <a:r>
              <a:rPr lang="en-US" sz="1150" dirty="0">
                <a:solidFill>
                  <a:srgbClr val="1A0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string matching breaks on similar names</a:t>
            </a:r>
            <a:endParaRPr lang="en-US" sz="1150" dirty="0"/>
          </a:p>
        </p:txBody>
      </p:sp>
      <p:sp>
        <p:nvSpPr>
          <p:cNvPr id="29" name="Shape 21"/>
          <p:cNvSpPr/>
          <p:nvPr/>
        </p:nvSpPr>
        <p:spPr>
          <a:xfrm>
            <a:off x="292608" y="3529584"/>
            <a:ext cx="3895344" cy="603504"/>
          </a:xfrm>
          <a:prstGeom prst="roundRect">
            <a:avLst>
              <a:gd name="adj" fmla="val 13636"/>
            </a:avLst>
          </a:prstGeom>
          <a:solidFill>
            <a:srgbClr val="EDE0FF"/>
          </a:solidFill>
          <a:ln w="12700">
            <a:solidFill>
              <a:srgbClr val="9D5EE8"/>
            </a:solidFill>
            <a:prstDash val="solid"/>
          </a:ln>
        </p:spPr>
      </p:sp>
      <p:pic>
        <p:nvPicPr>
          <p:cNvPr id="30" name="Image 6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2336" y="3694176"/>
            <a:ext cx="274320" cy="274320"/>
          </a:xfrm>
          <a:prstGeom prst="rect">
            <a:avLst/>
          </a:prstGeom>
        </p:spPr>
      </p:pic>
      <p:sp>
        <p:nvSpPr>
          <p:cNvPr id="31" name="Text 22"/>
          <p:cNvSpPr/>
          <p:nvPr/>
        </p:nvSpPr>
        <p:spPr>
          <a:xfrm>
            <a:off x="749808" y="3529584"/>
            <a:ext cx="3328416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D0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PasswordBox cannot be styled with ControlTemplate</a:t>
            </a:r>
            <a:endParaRPr lang="en-US" sz="1150" dirty="0"/>
          </a:p>
        </p:txBody>
      </p:sp>
      <p:sp>
        <p:nvSpPr>
          <p:cNvPr id="32" name="Text 23"/>
          <p:cNvSpPr/>
          <p:nvPr/>
        </p:nvSpPr>
        <p:spPr>
          <a:xfrm>
            <a:off x="4224528" y="3529584"/>
            <a:ext cx="42062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FF7043"/>
                </a:solidFill>
              </a:rPr>
              <a:t>→</a:t>
            </a:r>
            <a:endParaRPr lang="en-US" sz="2200" dirty="0"/>
          </a:p>
        </p:txBody>
      </p:sp>
      <p:sp>
        <p:nvSpPr>
          <p:cNvPr id="33" name="Shape 24"/>
          <p:cNvSpPr/>
          <p:nvPr/>
        </p:nvSpPr>
        <p:spPr>
          <a:xfrm>
            <a:off x="4681728" y="3529584"/>
            <a:ext cx="4169664" cy="603504"/>
          </a:xfrm>
          <a:prstGeom prst="roundRect">
            <a:avLst>
              <a:gd name="adj" fmla="val 13636"/>
            </a:avLst>
          </a:prstGeom>
          <a:solidFill>
            <a:srgbClr val="FFF3EE"/>
          </a:solidFill>
          <a:ln w="12700">
            <a:solidFill>
              <a:srgbClr val="FFAA80"/>
            </a:solidFill>
            <a:prstDash val="solid"/>
          </a:ln>
        </p:spPr>
      </p:sp>
      <p:pic>
        <p:nvPicPr>
          <p:cNvPr id="34" name="Image 7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91456" y="3694176"/>
            <a:ext cx="274320" cy="274320"/>
          </a:xfrm>
          <a:prstGeom prst="rect">
            <a:avLst/>
          </a:prstGeom>
        </p:spPr>
      </p:pic>
      <p:sp>
        <p:nvSpPr>
          <p:cNvPr id="35" name="Text 25"/>
          <p:cNvSpPr/>
          <p:nvPr/>
        </p:nvSpPr>
        <p:spPr>
          <a:xfrm>
            <a:off x="5138928" y="3529584"/>
            <a:ext cx="3602736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A0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Wrapped PasswordBox in a custom Border ControlTemplate to match the rounded purple/peach theme</a:t>
            </a:r>
            <a:endParaRPr lang="en-US" sz="1150" dirty="0"/>
          </a:p>
        </p:txBody>
      </p:sp>
      <p:sp>
        <p:nvSpPr>
          <p:cNvPr id="36" name="Shape 26"/>
          <p:cNvSpPr/>
          <p:nvPr/>
        </p:nvSpPr>
        <p:spPr>
          <a:xfrm>
            <a:off x="292608" y="4242816"/>
            <a:ext cx="3895344" cy="603504"/>
          </a:xfrm>
          <a:prstGeom prst="roundRect">
            <a:avLst>
              <a:gd name="adj" fmla="val 13636"/>
            </a:avLst>
          </a:prstGeom>
          <a:solidFill>
            <a:srgbClr val="EDE0FF"/>
          </a:solidFill>
          <a:ln w="12700">
            <a:solidFill>
              <a:srgbClr val="9D5EE8"/>
            </a:solidFill>
            <a:prstDash val="solid"/>
          </a:ln>
        </p:spPr>
      </p:sp>
      <p:pic>
        <p:nvPicPr>
          <p:cNvPr id="37" name="Image 8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2336" y="4407408"/>
            <a:ext cx="274320" cy="274320"/>
          </a:xfrm>
          <a:prstGeom prst="rect">
            <a:avLst/>
          </a:prstGeom>
        </p:spPr>
      </p:pic>
      <p:sp>
        <p:nvSpPr>
          <p:cNvPr id="38" name="Text 27"/>
          <p:cNvSpPr/>
          <p:nvPr/>
        </p:nvSpPr>
        <p:spPr>
          <a:xfrm>
            <a:off x="749808" y="4242816"/>
            <a:ext cx="3328416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D0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CNIC uniqueness check only at DB level causes confusing error</a:t>
            </a:r>
            <a:endParaRPr lang="en-US" sz="1150" dirty="0"/>
          </a:p>
        </p:txBody>
      </p:sp>
      <p:sp>
        <p:nvSpPr>
          <p:cNvPr id="39" name="Text 28"/>
          <p:cNvSpPr/>
          <p:nvPr/>
        </p:nvSpPr>
        <p:spPr>
          <a:xfrm>
            <a:off x="4224528" y="4242816"/>
            <a:ext cx="42062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FF7043"/>
                </a:solidFill>
              </a:rPr>
              <a:t>→</a:t>
            </a:r>
            <a:endParaRPr lang="en-US" sz="2200" dirty="0"/>
          </a:p>
        </p:txBody>
      </p:sp>
      <p:sp>
        <p:nvSpPr>
          <p:cNvPr id="40" name="Shape 29"/>
          <p:cNvSpPr/>
          <p:nvPr/>
        </p:nvSpPr>
        <p:spPr>
          <a:xfrm>
            <a:off x="4681728" y="4242816"/>
            <a:ext cx="4169664" cy="603504"/>
          </a:xfrm>
          <a:prstGeom prst="roundRect">
            <a:avLst>
              <a:gd name="adj" fmla="val 13636"/>
            </a:avLst>
          </a:prstGeom>
          <a:solidFill>
            <a:srgbClr val="FFF3EE"/>
          </a:solidFill>
          <a:ln w="12700">
            <a:solidFill>
              <a:srgbClr val="FFAA80"/>
            </a:solidFill>
            <a:prstDash val="solid"/>
          </a:ln>
        </p:spPr>
      </p:sp>
      <p:pic>
        <p:nvPicPr>
          <p:cNvPr id="41" name="Image 9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91456" y="4407408"/>
            <a:ext cx="274320" cy="274320"/>
          </a:xfrm>
          <a:prstGeom prst="rect">
            <a:avLst/>
          </a:prstGeom>
        </p:spPr>
      </p:pic>
      <p:sp>
        <p:nvSpPr>
          <p:cNvPr id="42" name="Text 30"/>
          <p:cNvSpPr/>
          <p:nvPr/>
        </p:nvSpPr>
        <p:spPr>
          <a:xfrm>
            <a:off x="5138928" y="4242816"/>
            <a:ext cx="3602736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A0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Added C# pre-check query so a friendly red message shows before any SQL INSERT is attempted</a:t>
            </a:r>
            <a:endParaRPr lang="en-US" sz="11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8F4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2D0660"/>
          </a:solidFill>
          <a:ln w="12700">
            <a:solidFill>
              <a:srgbClr val="2D066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046720" y="91440"/>
            <a:ext cx="274320" cy="274320"/>
          </a:xfrm>
          <a:prstGeom prst="ellipse">
            <a:avLst/>
          </a:prstGeom>
          <a:solidFill>
            <a:srgbClr val="FF7043">
              <a:alpha val="60000"/>
            </a:srgbClr>
          </a:solidFill>
          <a:ln w="12700">
            <a:solidFill>
              <a:srgbClr val="FF7043">
                <a:alpha val="6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412480" y="182880"/>
            <a:ext cx="182880" cy="182880"/>
          </a:xfrm>
          <a:prstGeom prst="ellipse">
            <a:avLst/>
          </a:prstGeom>
          <a:solidFill>
            <a:srgbClr val="FFAA80">
              <a:alpha val="60000"/>
            </a:srgbClr>
          </a:solidFill>
          <a:ln w="12700">
            <a:solidFill>
              <a:srgbClr val="FFAA80">
                <a:alpha val="6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84048" y="91440"/>
            <a:ext cx="8412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50" dirty="0">
                <a:solidFill>
                  <a:srgbClr val="FFA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 CRITERIA     CHECKLIST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384048" y="621792"/>
            <a:ext cx="84124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05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Every graded criterion   fully implemented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384048" y="1234440"/>
            <a:ext cx="1005840" cy="50292"/>
          </a:xfrm>
          <a:prstGeom prst="rect">
            <a:avLst/>
          </a:prstGeom>
          <a:solidFill>
            <a:srgbClr val="FF7043"/>
          </a:solidFill>
          <a:ln w="12700">
            <a:solidFill>
              <a:srgbClr val="FF7043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92608" y="1389888"/>
            <a:ext cx="4206240" cy="786384"/>
          </a:xfrm>
          <a:prstGeom prst="roundRect">
            <a:avLst>
              <a:gd name="adj" fmla="val 13953"/>
            </a:avLst>
          </a:prstGeom>
          <a:solidFill>
            <a:srgbClr val="FFFFFF"/>
          </a:solidFill>
          <a:ln w="12700">
            <a:solidFill>
              <a:srgbClr val="E0D0F8"/>
            </a:solidFill>
            <a:prstDash val="solid"/>
          </a:ln>
          <a:effectLst>
            <a:outerShdw blurRad="177800" dist="50800" dir="2700000" algn="bl" rotWithShape="0">
              <a:srgbClr val="000000">
                <a:alpha val="12000"/>
              </a:srgbClr>
            </a:outerShdw>
          </a:effectLst>
        </p:spPr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8912" y="1645920"/>
            <a:ext cx="310896" cy="310896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841248" y="1481328"/>
            <a:ext cx="352958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D066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WPF User Interface Design</a:t>
            </a:r>
            <a:endParaRPr lang="en-US" sz="1250" dirty="0"/>
          </a:p>
        </p:txBody>
      </p:sp>
      <p:sp>
        <p:nvSpPr>
          <p:cNvPr id="11" name="Text 8"/>
          <p:cNvSpPr/>
          <p:nvPr/>
        </p:nvSpPr>
        <p:spPr>
          <a:xfrm>
            <a:off x="841248" y="1773936"/>
            <a:ext cx="352958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A3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Purple &amp; peach theme · Cards · Icons · Consistent typography across 8 windows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4736592" y="1389888"/>
            <a:ext cx="4206240" cy="786384"/>
          </a:xfrm>
          <a:prstGeom prst="roundRect">
            <a:avLst>
              <a:gd name="adj" fmla="val 13953"/>
            </a:avLst>
          </a:prstGeom>
          <a:solidFill>
            <a:srgbClr val="FFFFFF"/>
          </a:solidFill>
          <a:ln w="12700">
            <a:solidFill>
              <a:srgbClr val="E0D0F8"/>
            </a:solidFill>
            <a:prstDash val="solid"/>
          </a:ln>
          <a:effectLst>
            <a:outerShdw blurRad="177800" dist="50800" dir="2700000" algn="bl" rotWithShape="0">
              <a:srgbClr val="000000">
                <a:alpha val="12000"/>
              </a:srgbClr>
            </a:outerShdw>
          </a:effectLst>
        </p:spPr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82896" y="1645920"/>
            <a:ext cx="310896" cy="310896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5285232" y="1481328"/>
            <a:ext cx="352958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D066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SQL Server Relationships</a:t>
            </a:r>
            <a:endParaRPr lang="en-US" sz="1250" dirty="0"/>
          </a:p>
        </p:txBody>
      </p:sp>
      <p:sp>
        <p:nvSpPr>
          <p:cNvPr id="15" name="Text 11"/>
          <p:cNvSpPr/>
          <p:nvPr/>
        </p:nvSpPr>
        <p:spPr>
          <a:xfrm>
            <a:off x="5285232" y="1773936"/>
            <a:ext cx="352958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A3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Areas → Households → Citizens via FK · UNIQUE on CNIC and Email</a:t>
            </a:r>
            <a:endParaRPr lang="en-US" sz="1050" dirty="0"/>
          </a:p>
        </p:txBody>
      </p:sp>
      <p:sp>
        <p:nvSpPr>
          <p:cNvPr id="16" name="Shape 12"/>
          <p:cNvSpPr/>
          <p:nvPr/>
        </p:nvSpPr>
        <p:spPr>
          <a:xfrm>
            <a:off x="292608" y="2286000"/>
            <a:ext cx="4206240" cy="786384"/>
          </a:xfrm>
          <a:prstGeom prst="roundRect">
            <a:avLst>
              <a:gd name="adj" fmla="val 13953"/>
            </a:avLst>
          </a:prstGeom>
          <a:solidFill>
            <a:srgbClr val="FFFFFF"/>
          </a:solidFill>
          <a:ln w="12700">
            <a:solidFill>
              <a:srgbClr val="E0D0F8"/>
            </a:solidFill>
            <a:prstDash val="solid"/>
          </a:ln>
          <a:effectLst>
            <a:outerShdw blurRad="177800" dist="50800" dir="2700000" algn="bl" rotWithShape="0">
              <a:srgbClr val="000000">
                <a:alpha val="12000"/>
              </a:srgbClr>
            </a:outerShdw>
          </a:effectLst>
        </p:spPr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8912" y="2542032"/>
            <a:ext cx="310896" cy="310896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841248" y="2377440"/>
            <a:ext cx="352958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D066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Password Hashing</a:t>
            </a:r>
            <a:endParaRPr lang="en-US" sz="1250" dirty="0"/>
          </a:p>
        </p:txBody>
      </p:sp>
      <p:sp>
        <p:nvSpPr>
          <p:cNvPr id="19" name="Text 14"/>
          <p:cNvSpPr/>
          <p:nvPr/>
        </p:nvSpPr>
        <p:spPr>
          <a:xfrm>
            <a:off x="841248" y="2670048"/>
            <a:ext cx="352958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A3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SHA-256 via System.Security.Cryptography · No plain text anywhere</a:t>
            </a:r>
            <a:endParaRPr lang="en-US" sz="1050" dirty="0"/>
          </a:p>
        </p:txBody>
      </p:sp>
      <p:sp>
        <p:nvSpPr>
          <p:cNvPr id="20" name="Shape 15"/>
          <p:cNvSpPr/>
          <p:nvPr/>
        </p:nvSpPr>
        <p:spPr>
          <a:xfrm>
            <a:off x="4736592" y="2286000"/>
            <a:ext cx="4206240" cy="786384"/>
          </a:xfrm>
          <a:prstGeom prst="roundRect">
            <a:avLst>
              <a:gd name="adj" fmla="val 13953"/>
            </a:avLst>
          </a:prstGeom>
          <a:solidFill>
            <a:srgbClr val="FFFFFF"/>
          </a:solidFill>
          <a:ln w="12700">
            <a:solidFill>
              <a:srgbClr val="E0D0F8"/>
            </a:solidFill>
            <a:prstDash val="solid"/>
          </a:ln>
          <a:effectLst>
            <a:outerShdw blurRad="177800" dist="50800" dir="2700000" algn="bl" rotWithShape="0">
              <a:srgbClr val="000000">
                <a:alpha val="12000"/>
              </a:srgbClr>
            </a:outerShdw>
          </a:effectLst>
        </p:spPr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82896" y="2542032"/>
            <a:ext cx="310896" cy="310896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5285232" y="2377440"/>
            <a:ext cx="352958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D066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CRUD Functionality</a:t>
            </a:r>
            <a:endParaRPr lang="en-US" sz="1250" dirty="0"/>
          </a:p>
        </p:txBody>
      </p:sp>
      <p:sp>
        <p:nvSpPr>
          <p:cNvPr id="23" name="Text 17"/>
          <p:cNvSpPr/>
          <p:nvPr/>
        </p:nvSpPr>
        <p:spPr>
          <a:xfrm>
            <a:off x="5285232" y="2670048"/>
            <a:ext cx="352958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A3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/ View / Update / Delete for Areas, Households, Citizens</a:t>
            </a:r>
            <a:endParaRPr lang="en-US" sz="1050" dirty="0"/>
          </a:p>
        </p:txBody>
      </p:sp>
      <p:sp>
        <p:nvSpPr>
          <p:cNvPr id="24" name="Shape 18"/>
          <p:cNvSpPr/>
          <p:nvPr/>
        </p:nvSpPr>
        <p:spPr>
          <a:xfrm>
            <a:off x="292608" y="3182112"/>
            <a:ext cx="4206240" cy="786384"/>
          </a:xfrm>
          <a:prstGeom prst="roundRect">
            <a:avLst>
              <a:gd name="adj" fmla="val 13953"/>
            </a:avLst>
          </a:prstGeom>
          <a:solidFill>
            <a:srgbClr val="FFFFFF"/>
          </a:solidFill>
          <a:ln w="12700">
            <a:solidFill>
              <a:srgbClr val="E0D0F8"/>
            </a:solidFill>
            <a:prstDash val="solid"/>
          </a:ln>
          <a:effectLst>
            <a:outerShdw blurRad="177800" dist="50800" dir="2700000" algn="bl" rotWithShape="0">
              <a:srgbClr val="000000">
                <a:alpha val="12000"/>
              </a:srgbClr>
            </a:outerShdw>
          </a:effectLst>
        </p:spPr>
      </p:sp>
      <p:pic>
        <p:nvPicPr>
          <p:cNvPr id="25" name="Image 4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8912" y="3438144"/>
            <a:ext cx="310896" cy="310896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841248" y="3273552"/>
            <a:ext cx="352958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D066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Validation</a:t>
            </a:r>
            <a:endParaRPr lang="en-US" sz="1250" dirty="0"/>
          </a:p>
        </p:txBody>
      </p:sp>
      <p:sp>
        <p:nvSpPr>
          <p:cNvPr id="27" name="Text 20"/>
          <p:cNvSpPr/>
          <p:nvPr/>
        </p:nvSpPr>
        <p:spPr>
          <a:xfrm>
            <a:off x="841248" y="3566160"/>
            <a:ext cx="352958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A3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CNIC regex · Empty checks · Duplicate guard · Age auto-calc · Email regex</a:t>
            </a:r>
            <a:endParaRPr lang="en-US" sz="1050" dirty="0"/>
          </a:p>
        </p:txBody>
      </p:sp>
      <p:sp>
        <p:nvSpPr>
          <p:cNvPr id="28" name="Shape 21"/>
          <p:cNvSpPr/>
          <p:nvPr/>
        </p:nvSpPr>
        <p:spPr>
          <a:xfrm>
            <a:off x="4736592" y="3182112"/>
            <a:ext cx="4206240" cy="786384"/>
          </a:xfrm>
          <a:prstGeom prst="roundRect">
            <a:avLst>
              <a:gd name="adj" fmla="val 13953"/>
            </a:avLst>
          </a:prstGeom>
          <a:solidFill>
            <a:srgbClr val="FFFFFF"/>
          </a:solidFill>
          <a:ln w="12700">
            <a:solidFill>
              <a:srgbClr val="E0D0F8"/>
            </a:solidFill>
            <a:prstDash val="solid"/>
          </a:ln>
          <a:effectLst>
            <a:outerShdw blurRad="177800" dist="50800" dir="2700000" algn="bl" rotWithShape="0">
              <a:srgbClr val="000000">
                <a:alpha val="12000"/>
              </a:srgbClr>
            </a:outerShdw>
          </a:effectLst>
        </p:spPr>
      </p:sp>
      <p:pic>
        <p:nvPicPr>
          <p:cNvPr id="29" name="Image 5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82896" y="3438144"/>
            <a:ext cx="310896" cy="310896"/>
          </a:xfrm>
          <a:prstGeom prst="rect">
            <a:avLst/>
          </a:prstGeom>
        </p:spPr>
      </p:pic>
      <p:sp>
        <p:nvSpPr>
          <p:cNvPr id="30" name="Text 22"/>
          <p:cNvSpPr/>
          <p:nvPr/>
        </p:nvSpPr>
        <p:spPr>
          <a:xfrm>
            <a:off x="5285232" y="3273552"/>
            <a:ext cx="352958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D066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Database Normalization</a:t>
            </a:r>
            <a:endParaRPr lang="en-US" sz="1250" dirty="0"/>
          </a:p>
        </p:txBody>
      </p:sp>
      <p:sp>
        <p:nvSpPr>
          <p:cNvPr id="31" name="Text 23"/>
          <p:cNvSpPr/>
          <p:nvPr/>
        </p:nvSpPr>
        <p:spPr>
          <a:xfrm>
            <a:off x="5285232" y="3566160"/>
            <a:ext cx="352958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A3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tables · No repeating groups · Every field in correct table</a:t>
            </a:r>
            <a:endParaRPr lang="en-US" sz="1050" dirty="0"/>
          </a:p>
        </p:txBody>
      </p:sp>
      <p:sp>
        <p:nvSpPr>
          <p:cNvPr id="32" name="Shape 24"/>
          <p:cNvSpPr/>
          <p:nvPr/>
        </p:nvSpPr>
        <p:spPr>
          <a:xfrm>
            <a:off x="292608" y="4078224"/>
            <a:ext cx="4206240" cy="786384"/>
          </a:xfrm>
          <a:prstGeom prst="roundRect">
            <a:avLst>
              <a:gd name="adj" fmla="val 13953"/>
            </a:avLst>
          </a:prstGeom>
          <a:solidFill>
            <a:srgbClr val="FFFFFF"/>
          </a:solidFill>
          <a:ln w="12700">
            <a:solidFill>
              <a:srgbClr val="E0D0F8"/>
            </a:solidFill>
            <a:prstDash val="solid"/>
          </a:ln>
          <a:effectLst>
            <a:outerShdw blurRad="177800" dist="50800" dir="2700000" algn="bl" rotWithShape="0">
              <a:srgbClr val="000000">
                <a:alpha val="12000"/>
              </a:srgbClr>
            </a:outerShdw>
          </a:effectLst>
        </p:spPr>
      </p:sp>
      <p:pic>
        <p:nvPicPr>
          <p:cNvPr id="33" name="Image 6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8912" y="4334256"/>
            <a:ext cx="310896" cy="310896"/>
          </a:xfrm>
          <a:prstGeom prst="rect">
            <a:avLst/>
          </a:prstGeom>
        </p:spPr>
      </p:pic>
      <p:sp>
        <p:nvSpPr>
          <p:cNvPr id="34" name="Text 25"/>
          <p:cNvSpPr/>
          <p:nvPr/>
        </p:nvSpPr>
        <p:spPr>
          <a:xfrm>
            <a:off x="841248" y="4169664"/>
            <a:ext cx="352958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D066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DataGrid Implementation</a:t>
            </a:r>
            <a:endParaRPr lang="en-US" sz="1250" dirty="0"/>
          </a:p>
        </p:txBody>
      </p:sp>
      <p:sp>
        <p:nvSpPr>
          <p:cNvPr id="35" name="Text 26"/>
          <p:cNvSpPr/>
          <p:nvPr/>
        </p:nvSpPr>
        <p:spPr>
          <a:xfrm>
            <a:off x="841248" y="4462272"/>
            <a:ext cx="352958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A3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Searchable · Sortable · Filterable · Inline edit on selection · Alternating rows</a:t>
            </a:r>
            <a:endParaRPr lang="en-US" sz="1050" dirty="0"/>
          </a:p>
        </p:txBody>
      </p:sp>
      <p:sp>
        <p:nvSpPr>
          <p:cNvPr id="36" name="Shape 27"/>
          <p:cNvSpPr/>
          <p:nvPr/>
        </p:nvSpPr>
        <p:spPr>
          <a:xfrm>
            <a:off x="4736592" y="4078224"/>
            <a:ext cx="4206240" cy="786384"/>
          </a:xfrm>
          <a:prstGeom prst="roundRect">
            <a:avLst>
              <a:gd name="adj" fmla="val 13953"/>
            </a:avLst>
          </a:prstGeom>
          <a:solidFill>
            <a:srgbClr val="FFFFFF"/>
          </a:solidFill>
          <a:ln w="12700">
            <a:solidFill>
              <a:srgbClr val="E0D0F8"/>
            </a:solidFill>
            <a:prstDash val="solid"/>
          </a:ln>
          <a:effectLst>
            <a:outerShdw blurRad="177800" dist="50800" dir="2700000" algn="bl" rotWithShape="0">
              <a:srgbClr val="000000">
                <a:alpha val="12000"/>
              </a:srgbClr>
            </a:outerShdw>
          </a:effectLst>
        </p:spPr>
      </p:sp>
      <p:pic>
        <p:nvPicPr>
          <p:cNvPr id="37" name="Image 7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82896" y="4334256"/>
            <a:ext cx="310896" cy="310896"/>
          </a:xfrm>
          <a:prstGeom prst="rect">
            <a:avLst/>
          </a:prstGeom>
        </p:spPr>
      </p:pic>
      <p:sp>
        <p:nvSpPr>
          <p:cNvPr id="38" name="Text 28"/>
          <p:cNvSpPr/>
          <p:nvPr/>
        </p:nvSpPr>
        <p:spPr>
          <a:xfrm>
            <a:off x="5285232" y="4169664"/>
            <a:ext cx="352958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D066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Code Quality &amp; Documentation</a:t>
            </a:r>
            <a:endParaRPr lang="en-US" sz="1250" dirty="0"/>
          </a:p>
        </p:txBody>
      </p:sp>
      <p:sp>
        <p:nvSpPr>
          <p:cNvPr id="39" name="Text 29"/>
          <p:cNvSpPr/>
          <p:nvPr/>
        </p:nvSpPr>
        <p:spPr>
          <a:xfrm>
            <a:off x="5285232" y="4462272"/>
            <a:ext cx="352958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A3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DatabaseHelper.cs single access point · Comments on every method · Layered arch</a:t>
            </a:r>
            <a:endParaRPr lang="en-US" sz="10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2D0660"/>
          </a:solidFill>
          <a:ln w="12700">
            <a:solidFill>
              <a:srgbClr val="2D0660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457200" y="2048256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350" dirty="0">
                <a:solidFill>
                  <a:srgbClr val="FFA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DELIVERED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457200" y="2450592"/>
            <a:ext cx="82296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complete, working Census Management Platform</a:t>
            </a:r>
            <a:endParaRPr lang="en-US" sz="3000" dirty="0"/>
          </a:p>
        </p:txBody>
      </p:sp>
      <p:sp>
        <p:nvSpPr>
          <p:cNvPr id="11" name="Text 8"/>
          <p:cNvSpPr/>
          <p:nvPr/>
        </p:nvSpPr>
        <p:spPr>
          <a:xfrm>
            <a:off x="393192" y="3310128"/>
            <a:ext cx="131673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1801368" y="3310128"/>
            <a:ext cx="131673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3209544" y="3310128"/>
            <a:ext cx="131673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4617720" y="3310128"/>
            <a:ext cx="131673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6025896" y="3310128"/>
            <a:ext cx="131673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100" dirty="0"/>
          </a:p>
        </p:txBody>
      </p:sp>
      <p:sp>
        <p:nvSpPr>
          <p:cNvPr id="21" name="Text 18"/>
          <p:cNvSpPr/>
          <p:nvPr/>
        </p:nvSpPr>
        <p:spPr>
          <a:xfrm>
            <a:off x="7434072" y="3310128"/>
            <a:ext cx="131673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100" dirty="0"/>
          </a:p>
        </p:txBody>
      </p:sp>
      <p:sp>
        <p:nvSpPr>
          <p:cNvPr id="22" name="Shape 19"/>
          <p:cNvSpPr/>
          <p:nvPr/>
        </p:nvSpPr>
        <p:spPr>
          <a:xfrm>
            <a:off x="3200400" y="3986784"/>
            <a:ext cx="2743200" cy="36576"/>
          </a:xfrm>
          <a:prstGeom prst="rect">
            <a:avLst/>
          </a:prstGeom>
          <a:solidFill>
            <a:srgbClr val="FFAA80">
              <a:alpha val="45000"/>
            </a:srgbClr>
          </a:solidFill>
          <a:ln w="12700">
            <a:solidFill>
              <a:srgbClr val="FFAA80">
                <a:alpha val="45000"/>
              </a:srgbClr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457200" y="4114800"/>
            <a:ext cx="82296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i="1" dirty="0">
                <a:solidFill>
                  <a:srgbClr val="FFA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   ·   Questions Welcome</a:t>
            </a:r>
            <a:endParaRPr lang="en-US" sz="1800" dirty="0"/>
          </a:p>
        </p:txBody>
      </p:sp>
      <p:sp>
        <p:nvSpPr>
          <p:cNvPr id="24" name="Text 21"/>
          <p:cNvSpPr/>
          <p:nvPr/>
        </p:nvSpPr>
        <p:spPr>
          <a:xfrm>
            <a:off x="457200" y="4608576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36</TotalTime>
  <Words>2031</Words>
  <Application>Microsoft Office PowerPoint</Application>
  <PresentationFormat>On-screen Show (16:9)</PresentationFormat>
  <Paragraphs>361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1" baseType="lpstr">
      <vt:lpstr>Arial</vt:lpstr>
      <vt:lpstr>Calibri</vt:lpstr>
      <vt:lpstr>Cambria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Census Management System</dc:title>
  <dc:subject>PptxGenJS Presentation</dc:subject>
  <dc:creator>PptxGenJS</dc:creator>
  <cp:lastModifiedBy>Shahzil Fatima</cp:lastModifiedBy>
  <cp:revision>4</cp:revision>
  <dcterms:created xsi:type="dcterms:W3CDTF">2026-06-20T09:10:10Z</dcterms:created>
  <dcterms:modified xsi:type="dcterms:W3CDTF">2026-06-27T13:19:55Z</dcterms:modified>
</cp:coreProperties>
</file>